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Low season</c:v>
          </c:tx>
          <c:spPr>
            <a:ln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$1</c:v>
              </c:pt>
              <c:pt idx="1">
                <c:v>$2</c:v>
              </c:pt>
              <c:pt idx="2">
                <c:v>$3</c:v>
              </c:pt>
              <c:pt idx="3">
                <c:v>$4</c:v>
              </c:pt>
            </c:strLit>
          </c:cat>
          <c:val>
            <c:numLit>
              <c:formatCode>General</c:formatCode>
              <c:ptCount val="4"/>
              <c:pt idx="0">
                <c:v>180</c:v>
              </c:pt>
              <c:pt idx="1">
                <c:v>150</c:v>
              </c:pt>
              <c:pt idx="2">
                <c:v>118</c:v>
              </c:pt>
              <c:pt idx="3">
                <c:v>90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5ABA-406B-98F5-1A8842B2FBC7}"/>
            </c:ext>
          </c:extLst>
        </c:ser>
        <c:ser>
          <c:idx val="1"/>
          <c:order val="1"/>
          <c:tx>
            <c:v>High season</c:v>
          </c:tx>
          <c:spPr>
            <a:ln w="28575">
              <a:solidFill>
                <a:srgbClr val="FF6B35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$1</c:v>
              </c:pt>
              <c:pt idx="1">
                <c:v>$2</c:v>
              </c:pt>
              <c:pt idx="2">
                <c:v>$3</c:v>
              </c:pt>
              <c:pt idx="3">
                <c:v>$4</c:v>
              </c:pt>
            </c:strLit>
          </c:cat>
          <c:val>
            <c:numLit>
              <c:formatCode>General</c:formatCode>
              <c:ptCount val="4"/>
              <c:pt idx="0">
                <c:v>650</c:v>
              </c:pt>
              <c:pt idx="1">
                <c:v>610</c:v>
              </c:pt>
              <c:pt idx="2">
                <c:v>565</c:v>
              </c:pt>
              <c:pt idx="3">
                <c:v>520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5ABA-406B-98F5-1A8842B2FB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5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900">
                    <a:solidFill>
                      <a:srgbClr val="555555"/>
                    </a:solidFill>
                  </a:rPr>
                  <a:t>Unit sales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Before</c:v>
          </c:tx>
          <c:spPr>
            <a:solidFill>
              <a:srgbClr val="B8BCC4"/>
            </a:solidFill>
          </c:spPr>
          <c:invertIfNegative val="1"/>
          <c:dLbls>
            <c:delete val="1"/>
          </c:dLbls>
          <c:cat>
            <c:strLit>
              <c:ptCount val="4"/>
              <c:pt idx="0">
                <c:v>Age</c:v>
              </c:pt>
              <c:pt idx="1">
                <c:v>Baseline Y</c:v>
              </c:pt>
              <c:pt idx="2">
                <c:v>Season</c:v>
              </c:pt>
              <c:pt idx="3">
                <c:v>Market size</c:v>
              </c:pt>
            </c:strLit>
          </c:cat>
          <c:val>
            <c:numLit>
              <c:formatCode>General</c:formatCode>
              <c:ptCount val="4"/>
              <c:pt idx="0">
                <c:v>0.42</c:v>
              </c:pt>
              <c:pt idx="1">
                <c:v>0.35</c:v>
              </c:pt>
              <c:pt idx="2">
                <c:v>0.28000000000000003</c:v>
              </c:pt>
              <c:pt idx="3">
                <c:v>0.31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698-4EA3-8915-4B8FC319BBDC}"/>
            </c:ext>
          </c:extLst>
        </c:ser>
        <c:ser>
          <c:idx val="1"/>
          <c:order val="1"/>
          <c:tx>
            <c:v>After</c:v>
          </c:tx>
          <c:spPr>
            <a:solidFill>
              <a:srgbClr val="FF6B35"/>
            </a:solidFill>
          </c:spPr>
          <c:invertIfNegative val="1"/>
          <c:dLbls>
            <c:delete val="1"/>
          </c:dLbls>
          <c:cat>
            <c:strLit>
              <c:ptCount val="4"/>
              <c:pt idx="0">
                <c:v>Age</c:v>
              </c:pt>
              <c:pt idx="1">
                <c:v>Baseline Y</c:v>
              </c:pt>
              <c:pt idx="2">
                <c:v>Season</c:v>
              </c:pt>
              <c:pt idx="3">
                <c:v>Market size</c:v>
              </c:pt>
            </c:strLit>
          </c:cat>
          <c:val>
            <c:numLit>
              <c:formatCode>General</c:formatCode>
              <c:ptCount val="4"/>
              <c:pt idx="0">
                <c:v>7.0000000000000007E-2</c:v>
              </c:pt>
              <c:pt idx="1">
                <c:v>0.06</c:v>
              </c:pt>
              <c:pt idx="2">
                <c:v>0.05</c:v>
              </c:pt>
              <c:pt idx="3">
                <c:v>0.08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698-4EA3-8915-4B8FC319BB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Treated</c:v>
          </c:tx>
          <c:spPr>
            <a:ln w="38100">
              <a:solidFill>
                <a:srgbClr val="FF6B35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2"/>
              <c:pt idx="0">
                <c:v>Pre</c:v>
              </c:pt>
              <c:pt idx="1">
                <c:v>Post</c:v>
              </c:pt>
            </c:strLit>
          </c:cat>
          <c:val>
            <c:numLit>
              <c:formatCode>General</c:formatCode>
              <c:ptCount val="2"/>
              <c:pt idx="0">
                <c:v>10</c:v>
              </c:pt>
              <c:pt idx="1">
                <c:v>15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A2C-41BE-8E8B-D4D7018667C2}"/>
            </c:ext>
          </c:extLst>
        </c:ser>
        <c:ser>
          <c:idx val="1"/>
          <c:order val="1"/>
          <c:tx>
            <c:v>Control</c:v>
          </c:tx>
          <c:spPr>
            <a:ln w="38100">
              <a:solidFill>
                <a:srgbClr val="2563EB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2"/>
              <c:pt idx="0">
                <c:v>Pre</c:v>
              </c:pt>
              <c:pt idx="1">
                <c:v>Post</c:v>
              </c:pt>
            </c:strLit>
          </c:cat>
          <c:val>
            <c:numLit>
              <c:formatCode>General</c:formatCode>
              <c:ptCount val="2"/>
              <c:pt idx="0">
                <c:v>4</c:v>
              </c:pt>
              <c:pt idx="1">
                <c:v>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A2C-41BE-8E8B-D4D7018667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8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55555"/>
                    </a:solidFill>
                  </a:rPr>
                  <a:t>Outcome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Observed outcome</c:v>
          </c:tx>
          <c:spPr>
            <a:ln w="28575">
              <a:solidFill>
                <a:srgbClr val="FF6B35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9"/>
              <c:pt idx="0">
                <c:v>-4</c:v>
              </c:pt>
              <c:pt idx="1">
                <c:v>-3</c:v>
              </c:pt>
              <c:pt idx="2">
                <c:v>-2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numLit>
          </c:cat>
          <c:val>
            <c:numLit>
              <c:formatCode>General</c:formatCode>
              <c:ptCount val="9"/>
              <c:pt idx="0">
                <c:v>42</c:v>
              </c:pt>
              <c:pt idx="1">
                <c:v>44</c:v>
              </c:pt>
              <c:pt idx="2">
                <c:v>45</c:v>
              </c:pt>
              <c:pt idx="3">
                <c:v>47</c:v>
              </c:pt>
              <c:pt idx="4">
                <c:v>58</c:v>
              </c:pt>
              <c:pt idx="5">
                <c:v>59</c:v>
              </c:pt>
              <c:pt idx="6">
                <c:v>61</c:v>
              </c:pt>
              <c:pt idx="7">
                <c:v>63</c:v>
              </c:pt>
              <c:pt idx="8">
                <c:v>65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5C7-4A38-B10E-234E38CD4045}"/>
            </c:ext>
          </c:extLst>
        </c:ser>
        <c:ser>
          <c:idx val="1"/>
          <c:order val="1"/>
          <c:tx>
            <c:v>Counterfactual trend</c:v>
          </c:tx>
          <c:spPr>
            <a:ln w="19050">
              <a:solidFill>
                <a:srgbClr val="555555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9"/>
              <c:pt idx="0">
                <c:v>-4</c:v>
              </c:pt>
              <c:pt idx="1">
                <c:v>-3</c:v>
              </c:pt>
              <c:pt idx="2">
                <c:v>-2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numLit>
          </c:cat>
          <c:val>
            <c:numLit>
              <c:formatCode>General</c:formatCode>
              <c:ptCount val="9"/>
              <c:pt idx="0">
                <c:v>42</c:v>
              </c:pt>
              <c:pt idx="1">
                <c:v>44</c:v>
              </c:pt>
              <c:pt idx="2">
                <c:v>45</c:v>
              </c:pt>
              <c:pt idx="3">
                <c:v>47</c:v>
              </c:pt>
              <c:pt idx="4">
                <c:v>49</c:v>
              </c:pt>
              <c:pt idx="5">
                <c:v>50</c:v>
              </c:pt>
              <c:pt idx="6">
                <c:v>52</c:v>
              </c:pt>
              <c:pt idx="7">
                <c:v>54</c:v>
              </c:pt>
              <c:pt idx="8">
                <c:v>56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5C7-4A38-B10E-234E38CD40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0"/>
          <c:min val="35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55555"/>
                    </a:solidFill>
                  </a:rPr>
                  <a:t>Outcome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Treated unit</c:v>
          </c:tx>
          <c:spPr>
            <a:ln w="38100">
              <a:solidFill>
                <a:srgbClr val="FF6B35"/>
              </a:solidFill>
              <a:prstDash val="solid"/>
            </a:ln>
          </c:spPr>
          <c:cat>
            <c:strLit>
              <c:ptCount val="9"/>
              <c:pt idx="0">
                <c:v>t-5</c:v>
              </c:pt>
              <c:pt idx="1">
                <c:v>t-4</c:v>
              </c:pt>
              <c:pt idx="2">
                <c:v>t-3</c:v>
              </c:pt>
              <c:pt idx="3">
                <c:v>t-2</c:v>
              </c:pt>
              <c:pt idx="4">
                <c:v>t-1</c:v>
              </c:pt>
              <c:pt idx="5">
                <c:v>t</c:v>
              </c:pt>
              <c:pt idx="6">
                <c:v>t+1</c:v>
              </c:pt>
              <c:pt idx="7">
                <c:v>t+2</c:v>
              </c:pt>
              <c:pt idx="8">
                <c:v>t+3</c:v>
              </c:pt>
            </c:strLit>
          </c:cat>
          <c:val>
            <c:numLit>
              <c:formatCode>General</c:formatCode>
              <c:ptCount val="9"/>
              <c:pt idx="0">
                <c:v>52</c:v>
              </c:pt>
              <c:pt idx="1">
                <c:v>53</c:v>
              </c:pt>
              <c:pt idx="2">
                <c:v>54</c:v>
              </c:pt>
              <c:pt idx="3">
                <c:v>55</c:v>
              </c:pt>
              <c:pt idx="4">
                <c:v>56</c:v>
              </c:pt>
              <c:pt idx="5">
                <c:v>65</c:v>
              </c:pt>
              <c:pt idx="6">
                <c:v>70</c:v>
              </c:pt>
              <c:pt idx="7">
                <c:v>72</c:v>
              </c:pt>
              <c:pt idx="8">
                <c:v>75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1D2-4E3A-BE83-94227062D897}"/>
            </c:ext>
          </c:extLst>
        </c:ser>
        <c:ser>
          <c:idx val="1"/>
          <c:order val="1"/>
          <c:tx>
            <c:v>Synthetic control</c:v>
          </c:tx>
          <c:spPr>
            <a:ln w="28575">
              <a:solidFill>
                <a:srgbClr val="2563EB"/>
              </a:solidFill>
              <a:prstDash val="solid"/>
            </a:ln>
          </c:spPr>
          <c:cat>
            <c:strLit>
              <c:ptCount val="9"/>
              <c:pt idx="0">
                <c:v>t-5</c:v>
              </c:pt>
              <c:pt idx="1">
                <c:v>t-4</c:v>
              </c:pt>
              <c:pt idx="2">
                <c:v>t-3</c:v>
              </c:pt>
              <c:pt idx="3">
                <c:v>t-2</c:v>
              </c:pt>
              <c:pt idx="4">
                <c:v>t-1</c:v>
              </c:pt>
              <c:pt idx="5">
                <c:v>t</c:v>
              </c:pt>
              <c:pt idx="6">
                <c:v>t+1</c:v>
              </c:pt>
              <c:pt idx="7">
                <c:v>t+2</c:v>
              </c:pt>
              <c:pt idx="8">
                <c:v>t+3</c:v>
              </c:pt>
            </c:strLit>
          </c:cat>
          <c:val>
            <c:numLit>
              <c:formatCode>General</c:formatCode>
              <c:ptCount val="9"/>
              <c:pt idx="0">
                <c:v>51</c:v>
              </c:pt>
              <c:pt idx="1">
                <c:v>53</c:v>
              </c:pt>
              <c:pt idx="2">
                <c:v>54</c:v>
              </c:pt>
              <c:pt idx="3">
                <c:v>55</c:v>
              </c:pt>
              <c:pt idx="4">
                <c:v>56</c:v>
              </c:pt>
              <c:pt idx="5">
                <c:v>57</c:v>
              </c:pt>
              <c:pt idx="6">
                <c:v>58</c:v>
              </c:pt>
              <c:pt idx="7">
                <c:v>59</c:v>
              </c:pt>
              <c:pt idx="8">
                <c:v>60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21D2-4E3A-BE83-94227062D8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80"/>
          <c:min val="45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55555"/>
                    </a:solidFill>
                  </a:rPr>
                  <a:t>Outcome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eck-title">
            <a:extLst>
              <a:ext uri="{FF2B5EF4-FFF2-40B4-BE49-F238E27FC236}">
                <a16:creationId xmlns:a16="http://schemas.microsoft.com/office/drawing/2014/main" id="{3593D70B-DC05-4CE3-9D95-0643B014819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9239250" cy="914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4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CAUSAL INFERENCE TOOLKITS</a:t>
            </a:r>
          </a:p>
        </p:txBody>
      </p:sp>
      <p:sp>
        <p:nvSpPr>
          <p:cNvPr id="2" name="deck-subtitle">
            <a:extLst>
              <a:ext uri="{FF2B5EF4-FFF2-40B4-BE49-F238E27FC236}">
                <a16:creationId xmlns:a16="http://schemas.microsoft.com/office/drawing/2014/main" id="{7DE0B03C-9898-4639-BDF2-A1817592D377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8382000" cy="7239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21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Concepts, assumptions, and practical tooling for observational and quasi-experimental data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8495E7F7-68FA-4139-9A3B-C4C311B38E75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5905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Rebuilt from revised Markdown | 2026-08-23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E30499-87CF-4234-92F8-FE6381694FD9}"/>
              </a:ext>
            </a:extLst>
          </p:cNvPr>
          <p:cNvSpPr>
            <a:spLocks noGrp="1"/>
          </p:cNvSpPr>
          <p:nvPr/>
        </p:nvSpPr>
        <p:spPr>
          <a:xfrm>
            <a:off x="8705850" y="762000"/>
            <a:ext cx="2705100" cy="4381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30883-CFCF-4389-91E5-BCC43871CB47}"/>
              </a:ext>
            </a:extLst>
          </p:cNvPr>
          <p:cNvSpPr>
            <a:spLocks noGrp="1"/>
          </p:cNvSpPr>
          <p:nvPr/>
        </p:nvSpPr>
        <p:spPr>
          <a:xfrm>
            <a:off x="9010650" y="125730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Estimand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A08F91-A512-4685-921C-EC5F4FB82D47}"/>
              </a:ext>
            </a:extLst>
          </p:cNvPr>
          <p:cNvSpPr>
            <a:spLocks noGrp="1"/>
          </p:cNvSpPr>
          <p:nvPr/>
        </p:nvSpPr>
        <p:spPr>
          <a:xfrm>
            <a:off x="9010650" y="257175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3F03D-AF23-4682-9312-A568A3EADFFD}"/>
              </a:ext>
            </a:extLst>
          </p:cNvPr>
          <p:cNvSpPr>
            <a:spLocks noGrp="1"/>
          </p:cNvSpPr>
          <p:nvPr/>
        </p:nvSpPr>
        <p:spPr>
          <a:xfrm>
            <a:off x="9010650" y="388620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Diagnostics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4306087-645A-4ACF-B810-71FD25CE0939}"/>
              </a:ext>
            </a:extLst>
          </p:cNvPr>
          <p:cNvSpPr>
            <a:spLocks noGrp="1"/>
          </p:cNvSpPr>
          <p:nvPr/>
        </p:nvSpPr>
        <p:spPr>
          <a:xfrm>
            <a:off x="9010650" y="2095500"/>
            <a:ext cx="180975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A3268BF-6D84-4C6B-8618-0B56ABA73747}"/>
              </a:ext>
            </a:extLst>
          </p:cNvPr>
          <p:cNvSpPr>
            <a:spLocks noGrp="1"/>
          </p:cNvSpPr>
          <p:nvPr/>
        </p:nvSpPr>
        <p:spPr>
          <a:xfrm>
            <a:off x="9010650" y="3409950"/>
            <a:ext cx="180975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8B728-7783-4318-B06D-A33F67FCA0A0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030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-label">
            <a:extLst>
              <a:ext uri="{FF2B5EF4-FFF2-40B4-BE49-F238E27FC236}">
                <a16:creationId xmlns:a16="http://schemas.microsoft.com/office/drawing/2014/main" id="{1D9568D2-455D-44E7-8FD8-D0BF2B9A7F13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Seminar path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245F006-500F-4E45-83C7-391D36053D7E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story in three moves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16EDD84-56AD-45D3-8794-B9CAA2BB9B27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FA3F0-E805-43A6-BE13-956462BA7299}"/>
              </a:ext>
            </a:extLst>
          </p:cNvPr>
          <p:cNvSpPr>
            <a:spLocks noGrp="1"/>
          </p:cNvSpPr>
          <p:nvPr/>
        </p:nvSpPr>
        <p:spPr>
          <a:xfrm>
            <a:off x="400050" y="1828800"/>
            <a:ext cx="3352800" cy="3105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AB2117-1A60-4082-A136-0E42246F721B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152400" cy="1524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EA461-EBE7-40C9-9204-C24307E0AD62}"/>
              </a:ext>
            </a:extLst>
          </p:cNvPr>
          <p:cNvSpPr>
            <a:spLocks noGrp="1"/>
          </p:cNvSpPr>
          <p:nvPr/>
        </p:nvSpPr>
        <p:spPr>
          <a:xfrm>
            <a:off x="647700" y="2362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Ask the causal question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9307BD-EC99-4D23-B58B-34817512E2A0}"/>
              </a:ext>
            </a:extLst>
          </p:cNvPr>
          <p:cNvSpPr>
            <a:spLocks noGrp="1"/>
          </p:cNvSpPr>
          <p:nvPr/>
        </p:nvSpPr>
        <p:spPr>
          <a:xfrm>
            <a:off x="647700" y="2819400"/>
            <a:ext cx="28575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Prediction asks what will happen. Causal inference asks what would change under an intervention.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DAFFE4-0CBB-4AA3-837F-9A5E702681B7}"/>
              </a:ext>
            </a:extLst>
          </p:cNvPr>
          <p:cNvSpPr>
            <a:spLocks noGrp="1"/>
          </p:cNvSpPr>
          <p:nvPr/>
        </p:nvSpPr>
        <p:spPr>
          <a:xfrm>
            <a:off x="4419600" y="1828800"/>
            <a:ext cx="3352800" cy="3105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1CCC8B-207C-496A-BA86-2665B580D98B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152400" cy="1524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71C249-BBE3-420F-89CF-DAEC2F62649F}"/>
              </a:ext>
            </a:extLst>
          </p:cNvPr>
          <p:cNvSpPr>
            <a:spLocks noGrp="1"/>
          </p:cNvSpPr>
          <p:nvPr/>
        </p:nvSpPr>
        <p:spPr>
          <a:xfrm>
            <a:off x="4667250" y="2362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Defend identification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BE20F-2B40-477E-B958-56E1444EC3A0}"/>
              </a:ext>
            </a:extLst>
          </p:cNvPr>
          <p:cNvSpPr>
            <a:spLocks noGrp="1"/>
          </p:cNvSpPr>
          <p:nvPr/>
        </p:nvSpPr>
        <p:spPr>
          <a:xfrm>
            <a:off x="4667250" y="2819400"/>
            <a:ext cx="28575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design, not the estimator, turns observed data into a credible causal claim.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3FF93B-C170-4EF5-86E4-AEA83E3CF06E}"/>
              </a:ext>
            </a:extLst>
          </p:cNvPr>
          <p:cNvSpPr>
            <a:spLocks noGrp="1"/>
          </p:cNvSpPr>
          <p:nvPr/>
        </p:nvSpPr>
        <p:spPr>
          <a:xfrm>
            <a:off x="8439150" y="1828800"/>
            <a:ext cx="3352800" cy="3105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5783CE-54D5-40A2-8BE8-3192C0933733}"/>
              </a:ext>
            </a:extLst>
          </p:cNvPr>
          <p:cNvSpPr>
            <a:spLocks noGrp="1"/>
          </p:cNvSpPr>
          <p:nvPr/>
        </p:nvSpPr>
        <p:spPr>
          <a:xfrm>
            <a:off x="8686800" y="2095500"/>
            <a:ext cx="152400" cy="1524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F4965-A12B-499D-BE8D-E8ED9F2F19D8}"/>
              </a:ext>
            </a:extLst>
          </p:cNvPr>
          <p:cNvSpPr>
            <a:spLocks noGrp="1"/>
          </p:cNvSpPr>
          <p:nvPr/>
        </p:nvSpPr>
        <p:spPr>
          <a:xfrm>
            <a:off x="8686800" y="2362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tools carefully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FBA81F-71C0-4C4A-893F-0C23A20415BC}"/>
              </a:ext>
            </a:extLst>
          </p:cNvPr>
          <p:cNvSpPr>
            <a:spLocks noGrp="1"/>
          </p:cNvSpPr>
          <p:nvPr/>
        </p:nvSpPr>
        <p:spPr>
          <a:xfrm>
            <a:off x="8686800" y="2819400"/>
            <a:ext cx="28575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Matching, IV, DiD, RDD, DML, forests, and synthetic control each solve different problems.</a:t>
            </a:r>
          </a:p>
        </p:txBody>
      </p:sp>
    </p:spTree>
    <p:extLst>
      <p:ext uri="{BB962C8B-B14F-4D97-AF65-F5344CB8AC3E}">
        <p14:creationId xmlns:p14="http://schemas.microsoft.com/office/powerpoint/2010/main" val="100444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ection-label">
            <a:extLst>
              <a:ext uri="{FF2B5EF4-FFF2-40B4-BE49-F238E27FC236}">
                <a16:creationId xmlns:a16="http://schemas.microsoft.com/office/drawing/2014/main" id="{DA4E205A-F818-430A-8D4D-13E72B05FE63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Seminar path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C90DEDE-F1D4-45CC-98B0-9190D5BD39EF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Agenda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D3254E4-5A44-469E-8B78-C81616455633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3810E8-5459-4CE2-827E-72A82E0784DE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B9EB6C-D909-41E2-982F-1E921B30E0C6}"/>
              </a:ext>
            </a:extLst>
          </p:cNvPr>
          <p:cNvSpPr>
            <a:spLocks noGrp="1"/>
          </p:cNvSpPr>
          <p:nvPr/>
        </p:nvSpPr>
        <p:spPr>
          <a:xfrm>
            <a:off x="1257300" y="14668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Causal questions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7EDAE9-8414-4E45-B1B8-B4AEF54442FB}"/>
              </a:ext>
            </a:extLst>
          </p:cNvPr>
          <p:cNvSpPr>
            <a:spLocks noGrp="1"/>
          </p:cNvSpPr>
          <p:nvPr/>
        </p:nvSpPr>
        <p:spPr>
          <a:xfrm>
            <a:off x="5010150" y="150495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Prediction versus intervention effects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767DEF7-27C0-43F5-B21F-CC0E0D20C121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10439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4B3208-E247-43CC-8DB8-258F1A9EA387}"/>
              </a:ext>
            </a:extLst>
          </p:cNvPr>
          <p:cNvSpPr>
            <a:spLocks noGrp="1"/>
          </p:cNvSpPr>
          <p:nvPr/>
        </p:nvSpPr>
        <p:spPr>
          <a:xfrm>
            <a:off x="400050" y="22288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6E6C0B-9A09-4487-B398-2F2C3049BD67}"/>
              </a:ext>
            </a:extLst>
          </p:cNvPr>
          <p:cNvSpPr>
            <a:spLocks noGrp="1"/>
          </p:cNvSpPr>
          <p:nvPr/>
        </p:nvSpPr>
        <p:spPr>
          <a:xfrm>
            <a:off x="1257300" y="21907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Assumptions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B61902-2B96-4AE3-B591-66F94C3001A7}"/>
              </a:ext>
            </a:extLst>
          </p:cNvPr>
          <p:cNvSpPr>
            <a:spLocks noGrp="1"/>
          </p:cNvSpPr>
          <p:nvPr/>
        </p:nvSpPr>
        <p:spPr>
          <a:xfrm>
            <a:off x="5010150" y="222885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Potential outcomes, DAGs, and identification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4787775-9339-4AE8-A2C8-BEA36DDA8E91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10439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9C0A4-131F-49D1-A67B-26F4AE792FC2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63B3B-BC2E-48C1-B7DB-453F9A169271}"/>
              </a:ext>
            </a:extLst>
          </p:cNvPr>
          <p:cNvSpPr>
            <a:spLocks noGrp="1"/>
          </p:cNvSpPr>
          <p:nvPr/>
        </p:nvSpPr>
        <p:spPr>
          <a:xfrm>
            <a:off x="1257300" y="29146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Observational risks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0570DC-A776-4B0D-B854-BFE1AD21620C}"/>
              </a:ext>
            </a:extLst>
          </p:cNvPr>
          <p:cNvSpPr>
            <a:spLocks noGrp="1"/>
          </p:cNvSpPr>
          <p:nvPr/>
        </p:nvSpPr>
        <p:spPr>
          <a:xfrm>
            <a:off x="5010150" y="295275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Confounding, selection, reverse causality, overlap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9E09F37-88F9-4A9D-9C36-12728FCAF8DC}"/>
              </a:ext>
            </a:extLst>
          </p:cNvPr>
          <p:cNvSpPr>
            <a:spLocks noGrp="1"/>
          </p:cNvSpPr>
          <p:nvPr/>
        </p:nvSpPr>
        <p:spPr>
          <a:xfrm>
            <a:off x="400050" y="3409950"/>
            <a:ext cx="10439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1BE353-CE0B-4A8F-9D9B-9610855D70FE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C113AB-8DBC-40B7-82AE-3F318F09CF5B}"/>
              </a:ext>
            </a:extLst>
          </p:cNvPr>
          <p:cNvSpPr>
            <a:spLocks noGrp="1"/>
          </p:cNvSpPr>
          <p:nvPr/>
        </p:nvSpPr>
        <p:spPr>
          <a:xfrm>
            <a:off x="1257300" y="36385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Toolkits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2B87F7-C30F-46BD-A897-B0A37AE2AF75}"/>
              </a:ext>
            </a:extLst>
          </p:cNvPr>
          <p:cNvSpPr>
            <a:spLocks noGrp="1"/>
          </p:cNvSpPr>
          <p:nvPr/>
        </p:nvSpPr>
        <p:spPr>
          <a:xfrm>
            <a:off x="5010150" y="367665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Matching, propensity scores, IV, DiD, RDD, synthetic control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B552DFB-85B3-4508-9E9A-6B692323F5D7}"/>
              </a:ext>
            </a:extLst>
          </p:cNvPr>
          <p:cNvSpPr>
            <a:spLocks noGrp="1"/>
          </p:cNvSpPr>
          <p:nvPr/>
        </p:nvSpPr>
        <p:spPr>
          <a:xfrm>
            <a:off x="400050" y="4133850"/>
            <a:ext cx="10439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459469-EEE3-4234-B127-37924D5F456E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F10A6B-38EB-4065-9243-A1913502BB2B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Causal ML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5588D2-C091-41F4-A5CC-446F70C1B76D}"/>
              </a:ext>
            </a:extLst>
          </p:cNvPr>
          <p:cNvSpPr>
            <a:spLocks noGrp="1"/>
          </p:cNvSpPr>
          <p:nvPr/>
        </p:nvSpPr>
        <p:spPr>
          <a:xfrm>
            <a:off x="5010150" y="440055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DML, DML-IV, heterogeneous treatment effects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3ABF7A4E-AE5F-4F56-B65B-9C10B79248AA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10439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8B2FFF-2D50-4185-B49C-BC92BD71F162}"/>
              </a:ext>
            </a:extLst>
          </p:cNvPr>
          <p:cNvSpPr>
            <a:spLocks noGrp="1"/>
          </p:cNvSpPr>
          <p:nvPr/>
        </p:nvSpPr>
        <p:spPr>
          <a:xfrm>
            <a:off x="400050" y="51244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889E26-8F74-46EA-A032-93D45052A0CC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C764B6-471E-4DE6-8718-AC7F34661A9D}"/>
              </a:ext>
            </a:extLst>
          </p:cNvPr>
          <p:cNvSpPr>
            <a:spLocks noGrp="1"/>
          </p:cNvSpPr>
          <p:nvPr/>
        </p:nvSpPr>
        <p:spPr>
          <a:xfrm>
            <a:off x="5010150" y="512445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Method choice, diagnostics, and demand-benchmark framing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1880FBA5-C2DC-46C2-9931-578B935D8297}"/>
              </a:ext>
            </a:extLst>
          </p:cNvPr>
          <p:cNvSpPr>
            <a:spLocks noGrp="1"/>
          </p:cNvSpPr>
          <p:nvPr/>
        </p:nvSpPr>
        <p:spPr>
          <a:xfrm>
            <a:off x="400050" y="5581650"/>
            <a:ext cx="104394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3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-label">
            <a:extLst>
              <a:ext uri="{FF2B5EF4-FFF2-40B4-BE49-F238E27FC236}">
                <a16:creationId xmlns:a16="http://schemas.microsoft.com/office/drawing/2014/main" id="{8CE788BC-9220-4B33-BA29-884BCD603525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Core distinction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4BF5B07-6D61-4CE5-B982-E7344BA714CB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Prediction and causation answer different questions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B417751-8C2D-415C-9484-48271FA228CE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4F1E8-6369-4D51-9752-2AFB71B380A8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C1C2F-55FC-48E8-A403-66BF7F81B409}"/>
              </a:ext>
            </a:extLst>
          </p:cNvPr>
          <p:cNvSpPr>
            <a:spLocks noGrp="1"/>
          </p:cNvSpPr>
          <p:nvPr/>
        </p:nvSpPr>
        <p:spPr>
          <a:xfrm>
            <a:off x="6267450" y="12192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Causal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38C4E-8845-4A4C-B07B-85B0A1EC482B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5334000" cy="3429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6E4323-B719-4617-9112-5B5B8BBBAE1D}"/>
              </a:ext>
            </a:extLst>
          </p:cNvPr>
          <p:cNvSpPr>
            <a:spLocks noGrp="1"/>
          </p:cNvSpPr>
          <p:nvPr/>
        </p:nvSpPr>
        <p:spPr>
          <a:xfrm>
            <a:off x="6267450" y="1676400"/>
            <a:ext cx="5334000" cy="3429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69CE85-E190-4602-BA43-38C74832105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762500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What outcome is likely after observing X?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Target: E[Y | X=x] or P(Y | X=x)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Needs predictive signal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Main risk: poor generalization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7DB67-6C3F-41E5-B4C6-FAEF35334E0B}"/>
              </a:ext>
            </a:extLst>
          </p:cNvPr>
          <p:cNvSpPr>
            <a:spLocks noGrp="1"/>
          </p:cNvSpPr>
          <p:nvPr/>
        </p:nvSpPr>
        <p:spPr>
          <a:xfrm>
            <a:off x="6553200" y="2000250"/>
            <a:ext cx="4762500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What outcome would change if we set T?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Target: E[Y(t1)-Y(t0)] or E[Y | do(T=t)]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Needs credible treatment variation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Main risk: biased causal interpretation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340671-69B3-4A4A-B669-AE973F931B9C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The algorithm is not the dividing line. The estimand and assumptions are.</a:t>
            </a:r>
          </a:p>
        </p:txBody>
      </p:sp>
    </p:spTree>
    <p:extLst>
      <p:ext uri="{BB962C8B-B14F-4D97-AF65-F5344CB8AC3E}">
        <p14:creationId xmlns:p14="http://schemas.microsoft.com/office/powerpoint/2010/main" val="27954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-label">
            <a:extLst>
              <a:ext uri="{FF2B5EF4-FFF2-40B4-BE49-F238E27FC236}">
                <a16:creationId xmlns:a16="http://schemas.microsoft.com/office/drawing/2014/main" id="{B24E607A-CA82-4EA9-A7F0-38EF0449505B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Potential outcomes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1AF90E0-D296-4107-874A-00F03CA6FC92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fundamental missing-data problem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3872C7D-BD15-45EC-957C-B97D176DF03D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6C808A-5D4D-4BBD-8C65-F1A80208FBB3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4762500" cy="26289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9FD4EF-D242-41D1-A9EF-4B432954D506}"/>
              </a:ext>
            </a:extLst>
          </p:cNvPr>
          <p:cNvSpPr>
            <a:spLocks noGrp="1"/>
          </p:cNvSpPr>
          <p:nvPr/>
        </p:nvSpPr>
        <p:spPr>
          <a:xfrm>
            <a:off x="6762750" y="1733550"/>
            <a:ext cx="4762500" cy="26289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2FCBB-9E8E-45A7-B97F-5BFD7C8C19EB}"/>
              </a:ext>
            </a:extLst>
          </p:cNvPr>
          <p:cNvSpPr>
            <a:spLocks noGrp="1"/>
          </p:cNvSpPr>
          <p:nvPr/>
        </p:nvSpPr>
        <p:spPr>
          <a:xfrm>
            <a:off x="971550" y="20955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Observed under treatment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7D44D-D254-4823-A988-FE7D7E5E252B}"/>
              </a:ext>
            </a:extLst>
          </p:cNvPr>
          <p:cNvSpPr>
            <a:spLocks noGrp="1"/>
          </p:cNvSpPr>
          <p:nvPr/>
        </p:nvSpPr>
        <p:spPr>
          <a:xfrm>
            <a:off x="2095500" y="2819400"/>
            <a:ext cx="171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Y(1)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050EF6-4FAD-40BF-844F-1BAA88E1BBA1}"/>
              </a:ext>
            </a:extLst>
          </p:cNvPr>
          <p:cNvSpPr>
            <a:spLocks noGrp="1"/>
          </p:cNvSpPr>
          <p:nvPr/>
        </p:nvSpPr>
        <p:spPr>
          <a:xfrm>
            <a:off x="2152650" y="36195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Observed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EE12A3-678F-47AC-80E1-9D2AD92D71B7}"/>
              </a:ext>
            </a:extLst>
          </p:cNvPr>
          <p:cNvSpPr>
            <a:spLocks noGrp="1"/>
          </p:cNvSpPr>
          <p:nvPr/>
        </p:nvSpPr>
        <p:spPr>
          <a:xfrm>
            <a:off x="7067550" y="20955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Counterfactual under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3F7AC-9615-4362-91AE-ED370D29AEC7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171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4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Y(0)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D6F612-BFC5-4FF3-93F3-A2E6C2CFC11C}"/>
              </a:ext>
            </a:extLst>
          </p:cNvPr>
          <p:cNvSpPr>
            <a:spLocks noGrp="1"/>
          </p:cNvSpPr>
          <p:nvPr/>
        </p:nvSpPr>
        <p:spPr>
          <a:xfrm>
            <a:off x="7734300" y="3619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B9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Missing for the same unit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490FBC-C430-45D4-9B3C-380E5E01905D}"/>
              </a:ext>
            </a:extLst>
          </p:cNvPr>
          <p:cNvSpPr>
            <a:spLocks noGrp="1"/>
          </p:cNvSpPr>
          <p:nvPr/>
        </p:nvSpPr>
        <p:spPr>
          <a:xfrm>
            <a:off x="1200150" y="502920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Individual effect = Y(1) - Y(0), but only one potential outcome is observed for each unit.</a:t>
            </a:r>
          </a:p>
        </p:txBody>
      </p:sp>
    </p:spTree>
    <p:extLst>
      <p:ext uri="{BB962C8B-B14F-4D97-AF65-F5344CB8AC3E}">
        <p14:creationId xmlns:p14="http://schemas.microsoft.com/office/powerpoint/2010/main" val="1823361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-label">
            <a:extLst>
              <a:ext uri="{FF2B5EF4-FFF2-40B4-BE49-F238E27FC236}">
                <a16:creationId xmlns:a16="http://schemas.microsoft.com/office/drawing/2014/main" id="{0D1201C0-3A8F-4F3C-A2BC-1EE5C1C81D58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Workflow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2FBD1C6-2D75-4F06-BB01-042A28A9A12B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identification separate from estimation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3B14F5C-BF0F-47C3-A2C4-EA60B1495AED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8AAC9-D794-43E4-8C1C-7CF50A2420DF}"/>
              </a:ext>
            </a:extLst>
          </p:cNvPr>
          <p:cNvSpPr>
            <a:spLocks noGrp="1"/>
          </p:cNvSpPr>
          <p:nvPr/>
        </p:nvSpPr>
        <p:spPr>
          <a:xfrm>
            <a:off x="514350" y="2057400"/>
            <a:ext cx="2324100" cy="2190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7D278-C39F-4ACB-9CE4-F1EFEAD165B1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D4DDFB-D2D1-44BE-9366-D602BC67F9B3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Identification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8B25E6-F522-444E-B1F1-72FE22C45C84}"/>
              </a:ext>
            </a:extLst>
          </p:cNvPr>
          <p:cNvSpPr>
            <a:spLocks noGrp="1"/>
          </p:cNvSpPr>
          <p:nvPr/>
        </p:nvSpPr>
        <p:spPr>
          <a:xfrm>
            <a:off x="762000" y="34861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What assumptions make the effect knowable?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0DA55-E331-44C3-949E-7BB935A51E9F}"/>
              </a:ext>
            </a:extLst>
          </p:cNvPr>
          <p:cNvSpPr>
            <a:spLocks noGrp="1"/>
          </p:cNvSpPr>
          <p:nvPr/>
        </p:nvSpPr>
        <p:spPr>
          <a:xfrm>
            <a:off x="3429000" y="2057400"/>
            <a:ext cx="2324100" cy="2190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A0C391-03D2-4CE9-8B2D-F69D8126A9E3}"/>
              </a:ext>
            </a:extLst>
          </p:cNvPr>
          <p:cNvSpPr>
            <a:spLocks noGrp="1"/>
          </p:cNvSpPr>
          <p:nvPr/>
        </p:nvSpPr>
        <p:spPr>
          <a:xfrm>
            <a:off x="3676650" y="230505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EFC6B9-E9DE-47A0-B0B0-E792E4C080D2}"/>
              </a:ext>
            </a:extLst>
          </p:cNvPr>
          <p:cNvSpPr>
            <a:spLocks noGrp="1"/>
          </p:cNvSpPr>
          <p:nvPr/>
        </p:nvSpPr>
        <p:spPr>
          <a:xfrm>
            <a:off x="3676650" y="2933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Estimation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25918C-9570-42E8-85DC-2461A2BC3D39}"/>
              </a:ext>
            </a:extLst>
          </p:cNvPr>
          <p:cNvSpPr>
            <a:spLocks noGrp="1"/>
          </p:cNvSpPr>
          <p:nvPr/>
        </p:nvSpPr>
        <p:spPr>
          <a:xfrm>
            <a:off x="3676650" y="34861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13"/>
          </a:bodyPr>
          <a:lstStyle/>
          <a:p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Which statistical method estimates that quantity?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AD5A98-5F4C-470F-83D5-B8ACFC589FAD}"/>
              </a:ext>
            </a:extLst>
          </p:cNvPr>
          <p:cNvSpPr>
            <a:spLocks noGrp="1"/>
          </p:cNvSpPr>
          <p:nvPr/>
        </p:nvSpPr>
        <p:spPr>
          <a:xfrm>
            <a:off x="6343650" y="2057400"/>
            <a:ext cx="2324100" cy="2190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10670-29FC-49BF-8DE0-7AAA84805EBE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341856-281F-46DA-BF10-460E2C95D42A}"/>
              </a:ext>
            </a:extLst>
          </p:cNvPr>
          <p:cNvSpPr>
            <a:spLocks noGrp="1"/>
          </p:cNvSpPr>
          <p:nvPr/>
        </p:nvSpPr>
        <p:spPr>
          <a:xfrm>
            <a:off x="6591300" y="2933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Inference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144A19-55A9-4F6E-998A-31FDF7D42B89}"/>
              </a:ext>
            </a:extLst>
          </p:cNvPr>
          <p:cNvSpPr>
            <a:spLocks noGrp="1"/>
          </p:cNvSpPr>
          <p:nvPr/>
        </p:nvSpPr>
        <p:spPr>
          <a:xfrm>
            <a:off x="6591300" y="34861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How uncertain is the estimate?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5E32-EA88-4F6B-8954-45AC3B953479}"/>
              </a:ext>
            </a:extLst>
          </p:cNvPr>
          <p:cNvSpPr>
            <a:spLocks noGrp="1"/>
          </p:cNvSpPr>
          <p:nvPr/>
        </p:nvSpPr>
        <p:spPr>
          <a:xfrm>
            <a:off x="9258300" y="2057400"/>
            <a:ext cx="2324100" cy="2190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1355E2-5DC1-4F94-BAEE-5C111CEC1B05}"/>
              </a:ext>
            </a:extLst>
          </p:cNvPr>
          <p:cNvSpPr>
            <a:spLocks noGrp="1"/>
          </p:cNvSpPr>
          <p:nvPr/>
        </p:nvSpPr>
        <p:spPr>
          <a:xfrm>
            <a:off x="9505950" y="230505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B88114-E5A9-4CEE-A35B-458AE73A743B}"/>
              </a:ext>
            </a:extLst>
          </p:cNvPr>
          <p:cNvSpPr>
            <a:spLocks noGrp="1"/>
          </p:cNvSpPr>
          <p:nvPr/>
        </p:nvSpPr>
        <p:spPr>
          <a:xfrm>
            <a:off x="9505950" y="2933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9382F4-A413-4B57-9326-9246309F5557}"/>
              </a:ext>
            </a:extLst>
          </p:cNvPr>
          <p:cNvSpPr>
            <a:spLocks noGrp="1"/>
          </p:cNvSpPr>
          <p:nvPr/>
        </p:nvSpPr>
        <p:spPr>
          <a:xfrm>
            <a:off x="9505950" y="34861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Is it relevant and reliable enough to act?</a:t>
            </a:r>
          </a:p>
        </p:txBody>
      </p:sp>
      <p:cxnSp>
        <p:nvCxnSpPr>
          <p:cNvPr id="43" name="Straight Arrow Connector 42"/>
          <p:cNvCxnSpPr>
            <a:stCxn id="4" idx="3"/>
            <a:endCxn id="8" idx="1"/>
          </p:cNvCxnSpPr>
          <p:nvPr/>
        </p:nvCxnSpPr>
        <p:spPr>
          <a:xfrm>
            <a:off x="2838450" y="3152775"/>
            <a:ext cx="590550" cy="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4" name="Straight Arrow Connector 43"/>
          <p:cNvCxnSpPr>
            <a:stCxn id="8" idx="3"/>
            <a:endCxn id="12" idx="1"/>
          </p:cNvCxnSpPr>
          <p:nvPr/>
        </p:nvCxnSpPr>
        <p:spPr>
          <a:xfrm>
            <a:off x="5753100" y="3152775"/>
            <a:ext cx="590550" cy="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5" name="Straight Arrow Connector 44"/>
          <p:cNvCxnSpPr>
            <a:stCxn id="12" idx="3"/>
            <a:endCxn id="16" idx="1"/>
          </p:cNvCxnSpPr>
          <p:nvPr/>
        </p:nvCxnSpPr>
        <p:spPr>
          <a:xfrm>
            <a:off x="8667750" y="3152775"/>
            <a:ext cx="590550" cy="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5FE9E62-EF6D-46F6-83D0-1DE0FF2740C5}"/>
              </a:ext>
            </a:extLst>
          </p:cNvPr>
          <p:cNvSpPr>
            <a:spLocks noGrp="1"/>
          </p:cNvSpPr>
          <p:nvPr/>
        </p:nvSpPr>
        <p:spPr>
          <a:xfrm>
            <a:off x="1219200" y="51244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06"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Many causal mistakes come from applying powerful estimators before the identification question is settled.</a:t>
            </a:r>
          </a:p>
        </p:txBody>
      </p:sp>
    </p:spTree>
    <p:extLst>
      <p:ext uri="{BB962C8B-B14F-4D97-AF65-F5344CB8AC3E}">
        <p14:creationId xmlns:p14="http://schemas.microsoft.com/office/powerpoint/2010/main" val="1212837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-label">
            <a:extLst>
              <a:ext uri="{FF2B5EF4-FFF2-40B4-BE49-F238E27FC236}">
                <a16:creationId xmlns:a16="http://schemas.microsoft.com/office/drawing/2014/main" id="{8C81B73D-A811-4758-89A2-E99CA8D4A288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Frameworks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CB8AE49-5B09-4616-8049-7A4A9ACC4AA7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causal languages are complementary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B9B25D4-1654-48D5-B7A5-6A1DEAD800B6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88A60-C552-4EE9-82DA-42D06DE06164}"/>
              </a:ext>
            </a:extLst>
          </p:cNvPr>
          <p:cNvSpPr>
            <a:spLocks noGrp="1"/>
          </p:cNvSpPr>
          <p:nvPr/>
        </p:nvSpPr>
        <p:spPr>
          <a:xfrm>
            <a:off x="400050" y="10287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Potential outcomes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AF4368-CF0F-4530-99D0-EA9D6ED3DC83}"/>
              </a:ext>
            </a:extLst>
          </p:cNvPr>
          <p:cNvSpPr>
            <a:spLocks noGrp="1"/>
          </p:cNvSpPr>
          <p:nvPr/>
        </p:nvSpPr>
        <p:spPr>
          <a:xfrm>
            <a:off x="6267450" y="10287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Graphs and structural models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03C4DA-9C78-4BAD-900E-311D3328B103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5334000" cy="3429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7C862-0FA7-48CA-991A-0DD19D317CE9}"/>
              </a:ext>
            </a:extLst>
          </p:cNvPr>
          <p:cNvSpPr>
            <a:spLocks noGrp="1"/>
          </p:cNvSpPr>
          <p:nvPr/>
        </p:nvSpPr>
        <p:spPr>
          <a:xfrm>
            <a:off x="6267450" y="1485900"/>
            <a:ext cx="5334000" cy="3429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28BA7-4B8C-4D0B-9C4C-951D6ADE5A3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762500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Defines Y(1), Y(0), ATE, ATT, CATE, LATE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Natural language for experiments, matching, DiD, IV, RDD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Excellent for precise estimands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B2F1DA-3A8A-4D2C-BEFF-A4173B6C4087}"/>
              </a:ext>
            </a:extLst>
          </p:cNvPr>
          <p:cNvSpPr>
            <a:spLocks noGrp="1"/>
          </p:cNvSpPr>
          <p:nvPr/>
        </p:nvSpPr>
        <p:spPr>
          <a:xfrm>
            <a:off x="6553200" y="1809750"/>
            <a:ext cx="4762500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Represent causal paths and interventions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Clarify confounders, colliders, mediators, and adjustment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Excellent for assumption audits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720FD2-AD15-4B60-AE42-D458BFD62A9A}"/>
              </a:ext>
            </a:extLst>
          </p:cNvPr>
          <p:cNvSpPr>
            <a:spLocks noGrp="1"/>
          </p:cNvSpPr>
          <p:nvPr/>
        </p:nvSpPr>
        <p:spPr>
          <a:xfrm>
            <a:off x="4972050" y="5219700"/>
            <a:ext cx="666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68FEB2-CACE-4566-891B-42A56275C8DA}"/>
              </a:ext>
            </a:extLst>
          </p:cNvPr>
          <p:cNvSpPr>
            <a:spLocks noGrp="1"/>
          </p:cNvSpPr>
          <p:nvPr/>
        </p:nvSpPr>
        <p:spPr>
          <a:xfrm>
            <a:off x="5962650" y="5219700"/>
            <a:ext cx="666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F2F65E-8D01-4D4F-A709-5D78D954C866}"/>
              </a:ext>
            </a:extLst>
          </p:cNvPr>
          <p:cNvSpPr>
            <a:spLocks noGrp="1"/>
          </p:cNvSpPr>
          <p:nvPr/>
        </p:nvSpPr>
        <p:spPr>
          <a:xfrm>
            <a:off x="6953250" y="5219700"/>
            <a:ext cx="666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cxnSp>
        <p:nvCxnSpPr>
          <p:cNvPr id="28" name="Straight Arrow Connector 27"/>
          <p:cNvCxnSpPr>
            <a:stCxn id="10" idx="3"/>
            <a:endCxn id="11" idx="1"/>
          </p:cNvCxnSpPr>
          <p:nvPr/>
        </p:nvCxnSpPr>
        <p:spPr>
          <a:xfrm>
            <a:off x="5638800" y="5448300"/>
            <a:ext cx="3238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9" name="Straight Arrow Connector 28"/>
          <p:cNvCxnSpPr>
            <a:stCxn id="11" idx="3"/>
            <a:endCxn id="12" idx="1"/>
          </p:cNvCxnSpPr>
          <p:nvPr/>
        </p:nvCxnSpPr>
        <p:spPr>
          <a:xfrm>
            <a:off x="6629400" y="5448300"/>
            <a:ext cx="3238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0" name="Straight Arrow Connector 29"/>
          <p:cNvCxnSpPr>
            <a:stCxn id="10" idx="3"/>
            <a:endCxn id="12" idx="1"/>
          </p:cNvCxnSpPr>
          <p:nvPr/>
        </p:nvCxnSpPr>
        <p:spPr>
          <a:xfrm>
            <a:off x="5638800" y="5448300"/>
            <a:ext cx="1314450" cy="0"/>
          </a:xfrm>
          <a:prstGeom prst="straightConnector1">
            <a:avLst/>
          </a:prstGeom>
          <a:ln w="19050">
            <a:solidFill>
              <a:srgbClr val="FF6B35"/>
            </a:solidFill>
            <a:prstDash val="dash"/>
            <a:headEnd type="none" w="med" len="me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546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-label">
            <a:extLst>
              <a:ext uri="{FF2B5EF4-FFF2-40B4-BE49-F238E27FC236}">
                <a16:creationId xmlns:a16="http://schemas.microsoft.com/office/drawing/2014/main" id="{4F4B63C6-3BCC-4048-BA1C-A6C951A70417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Scope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E4BD2FD-F585-47E7-AB5E-ACC4D5030E5D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Map the toolkit to the causal task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E42EB9F2-462F-422E-82E6-4A6FBC34ADCD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FB7920-F948-4583-B510-218BB40AF1BA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3295650" cy="30861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9521A-494A-4DED-853F-B72E47080589}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152400" cy="152400"/>
          </a:xfrm>
          <a:prstGeom prst="rect">
            <a:avLst/>
          </a:prstGeom>
          <a:solidFill>
            <a:srgbClr val="55555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FE65E4-2D40-4DC7-AE9C-DC31534DD042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Causal discovery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65AF43-63B1-45DA-B0EE-68807A41E7D9}"/>
              </a:ext>
            </a:extLst>
          </p:cNvPr>
          <p:cNvSpPr>
            <a:spLocks noGrp="1"/>
          </p:cNvSpPr>
          <p:nvPr/>
        </p:nvSpPr>
        <p:spPr>
          <a:xfrm>
            <a:off x="762000" y="2686050"/>
            <a:ext cx="28003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Question: what might cause what?</a:t>
            </a:r>
          </a:p>
          <a:p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Data: observational structures or time series.</a:t>
            </a:r>
          </a:p>
          <a:p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Caveat: strong assumptions; use as hypothesis generation unless design is strong.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2A7A0-3537-4F18-8811-A44A04A276EB}"/>
              </a:ext>
            </a:extLst>
          </p:cNvPr>
          <p:cNvSpPr>
            <a:spLocks noGrp="1"/>
          </p:cNvSpPr>
          <p:nvPr/>
        </p:nvSpPr>
        <p:spPr>
          <a:xfrm>
            <a:off x="4448175" y="1695450"/>
            <a:ext cx="3295650" cy="30861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D0712E-9536-4B3A-BDED-310F3CCB8360}"/>
              </a:ext>
            </a:extLst>
          </p:cNvPr>
          <p:cNvSpPr>
            <a:spLocks noGrp="1"/>
          </p:cNvSpPr>
          <p:nvPr/>
        </p:nvSpPr>
        <p:spPr>
          <a:xfrm>
            <a:off x="4695825" y="1962150"/>
            <a:ext cx="152400" cy="1524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1ADB09-9D4E-4AC9-919F-DDA2ECE626CA}"/>
              </a:ext>
            </a:extLst>
          </p:cNvPr>
          <p:cNvSpPr>
            <a:spLocks noGrp="1"/>
          </p:cNvSpPr>
          <p:nvPr/>
        </p:nvSpPr>
        <p:spPr>
          <a:xfrm>
            <a:off x="4695825" y="22288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Representation learning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480E33-6757-47C1-9D1C-76243F7754E3}"/>
              </a:ext>
            </a:extLst>
          </p:cNvPr>
          <p:cNvSpPr>
            <a:spLocks noGrp="1"/>
          </p:cNvSpPr>
          <p:nvPr/>
        </p:nvSpPr>
        <p:spPr>
          <a:xfrm>
            <a:off x="4695825" y="2686050"/>
            <a:ext cx="28003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Question: what latent causal variables explain complex data?</a:t>
            </a:r>
          </a:p>
          <a:p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Data: images, text, audio, sensors.</a:t>
            </a:r>
          </a:p>
          <a:p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Caveat: often non-identifiable without structure or interventions.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82ABAA-54A0-40BE-8EFE-1F512CA5C19A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3295650" cy="30861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CD6817-ABF4-4253-9C57-8A43199581A9}"/>
              </a:ext>
            </a:extLst>
          </p:cNvPr>
          <p:cNvSpPr>
            <a:spLocks noGrp="1"/>
          </p:cNvSpPr>
          <p:nvPr/>
        </p:nvSpPr>
        <p:spPr>
          <a:xfrm>
            <a:off x="8629650" y="1962150"/>
            <a:ext cx="152400" cy="1524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A85033-EEDA-4288-B706-B3C4CF6D132E}"/>
              </a:ext>
            </a:extLst>
          </p:cNvPr>
          <p:cNvSpPr>
            <a:spLocks noGrp="1"/>
          </p:cNvSpPr>
          <p:nvPr/>
        </p:nvSpPr>
        <p:spPr>
          <a:xfrm>
            <a:off x="8629650" y="22288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Effect estimation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D154AB-EBE8-459C-B16D-647BC158D0E6}"/>
              </a:ext>
            </a:extLst>
          </p:cNvPr>
          <p:cNvSpPr>
            <a:spLocks noGrp="1"/>
          </p:cNvSpPr>
          <p:nvPr/>
        </p:nvSpPr>
        <p:spPr>
          <a:xfrm>
            <a:off x="8629650" y="2686050"/>
            <a:ext cx="28003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Question: how much does changing T affect Y?</a:t>
            </a:r>
          </a:p>
          <a:p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Data: tabular, panel, experiments, quasi-experiments.</a:t>
            </a:r>
          </a:p>
          <a:p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deck focuses here.</a:t>
            </a:r>
          </a:p>
        </p:txBody>
      </p:sp>
    </p:spTree>
    <p:extLst>
      <p:ext uri="{BB962C8B-B14F-4D97-AF65-F5344CB8AC3E}">
        <p14:creationId xmlns:p14="http://schemas.microsoft.com/office/powerpoint/2010/main" val="81652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-label">
            <a:extLst>
              <a:ext uri="{FF2B5EF4-FFF2-40B4-BE49-F238E27FC236}">
                <a16:creationId xmlns:a16="http://schemas.microsoft.com/office/drawing/2014/main" id="{D3618D1B-0502-4A8F-AFB4-5D5845D96693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Design risks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E63187E-6D3D-4137-807B-8DFCDD6B859C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Observational data fail in predictable ways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E560DE70-4E2B-4AB0-8A00-5E63E1329549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514350" y="1619250"/>
          <a:ext cx="11163301" cy="3751580"/>
        </p:xfrm>
        <a:graphic>
          <a:graphicData uri="http://schemas.openxmlformats.org/drawingml/2006/table">
            <a:tbl>
              <a:tblPr firstRow="1" bandRow="1"/>
              <a:tblGrid>
                <a:gridCol w="2937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2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t>Problem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Why it biases effects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Typical response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t>Observed confounding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Pre-treatment X affects T and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Adjustment, matching, propensity, DML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t>Unmeasured confounding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Hidden U affects T and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IV, DiD, RDD, sensitivity, experiment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t>Reverse causality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Expected Y changes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Assignment model, lags, 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t>Limited 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Some units have no treatment/control analog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Trim target population, redesign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t>Interference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 unit's treatment affects another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Cluster design, spillover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55FC7F5-ACD7-4187-B493-E3B7DCCA4D9A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975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More rows do not fix weak identification. Look for useful variation, not just volume.</a:t>
            </a:r>
          </a:p>
        </p:txBody>
      </p:sp>
    </p:spTree>
    <p:extLst>
      <p:ext uri="{BB962C8B-B14F-4D97-AF65-F5344CB8AC3E}">
        <p14:creationId xmlns:p14="http://schemas.microsoft.com/office/powerpoint/2010/main" val="849419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-label">
            <a:extLst>
              <a:ext uri="{FF2B5EF4-FFF2-40B4-BE49-F238E27FC236}">
                <a16:creationId xmlns:a16="http://schemas.microsoft.com/office/drawing/2014/main" id="{D5635404-3592-4976-9342-FCE22D996D62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Confounding visual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BB4FEB1-CC53-43DE-8345-E9B673E31EEF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Demand example: seasonality can flip the sign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EB13647-CAE3-4F40-AE6B-5F0A68329C17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DB7ACC-29C5-41A2-8618-444A47F68430}"/>
              </a:ext>
            </a:extLst>
          </p:cNvPr>
          <p:cNvSpPr>
            <a:spLocks noGrp="1"/>
          </p:cNvSpPr>
          <p:nvPr/>
        </p:nvSpPr>
        <p:spPr>
          <a:xfrm>
            <a:off x="495300" y="1276350"/>
            <a:ext cx="6819900" cy="47244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Chart"/>
          <p:cNvGraphicFramePr/>
          <p:nvPr/>
        </p:nvGraphicFramePr>
        <p:xfrm>
          <a:off x="819150" y="1638300"/>
          <a:ext cx="61722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4E73F9F-3BCF-43D4-A990-2B9ED7E61969}"/>
              </a:ext>
            </a:extLst>
          </p:cNvPr>
          <p:cNvSpPr>
            <a:spLocks noGrp="1"/>
          </p:cNvSpPr>
          <p:nvPr/>
        </p:nvSpPr>
        <p:spPr>
          <a:xfrm>
            <a:off x="7734300" y="1638300"/>
            <a:ext cx="3390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Within comparable seasons, demand falls as price rises.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26C7D-C6FE-4DE9-B615-6CC6B8545DB4}"/>
              </a:ext>
            </a:extLst>
          </p:cNvPr>
          <p:cNvSpPr>
            <a:spLocks noGrp="1"/>
          </p:cNvSpPr>
          <p:nvPr/>
        </p:nvSpPr>
        <p:spPr>
          <a:xfrm>
            <a:off x="7753350" y="2800350"/>
            <a:ext cx="36195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High season has both higher prices and higher demand.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Pooled correlations can look positive.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 causal design must separate price movement from demand shocks.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3EA9A3-7EF5-43D7-B075-7E31F9B682E9}"/>
              </a:ext>
            </a:extLst>
          </p:cNvPr>
          <p:cNvSpPr>
            <a:spLocks noGrp="1"/>
          </p:cNvSpPr>
          <p:nvPr/>
        </p:nvSpPr>
        <p:spPr>
          <a:xfrm>
            <a:off x="7753350" y="5010150"/>
            <a:ext cx="358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Naive price-sales regression can be directionally wrong.</a:t>
            </a:r>
          </a:p>
        </p:txBody>
      </p:sp>
    </p:spTree>
    <p:extLst>
      <p:ext uri="{BB962C8B-B14F-4D97-AF65-F5344CB8AC3E}">
        <p14:creationId xmlns:p14="http://schemas.microsoft.com/office/powerpoint/2010/main" val="1941260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-label">
            <a:extLst>
              <a:ext uri="{FF2B5EF4-FFF2-40B4-BE49-F238E27FC236}">
                <a16:creationId xmlns:a16="http://schemas.microsoft.com/office/drawing/2014/main" id="{03D56D79-51FB-4F81-886D-62EE266C3F6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Adjustment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64D594E-ADBE-4A22-941E-C9CFB79B26C0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 fontScale="97276"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Observed confounding requires exchangeability and overlap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5E4735C7-C2C4-4486-910C-487763E5D4FF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81CEB5-D54A-4FED-89C0-5F3316468CC2}"/>
              </a:ext>
            </a:extLst>
          </p:cNvPr>
          <p:cNvSpPr>
            <a:spLocks noGrp="1"/>
          </p:cNvSpPr>
          <p:nvPr/>
        </p:nvSpPr>
        <p:spPr>
          <a:xfrm>
            <a:off x="1695450" y="2533650"/>
            <a:ext cx="1333500" cy="742950"/>
          </a:xfrm>
          <a:prstGeom prst="roundRect">
            <a:avLst>
              <a:gd name="adj" fmla="val 10256"/>
            </a:avLst>
          </a:prstGeom>
          <a:solidFill>
            <a:srgbClr val="EDEDED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Covariates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227D48-0DF7-4072-8D2E-CCD030CAEF8D}"/>
              </a:ext>
            </a:extLst>
          </p:cNvPr>
          <p:cNvSpPr>
            <a:spLocks noGrp="1"/>
          </p:cNvSpPr>
          <p:nvPr/>
        </p:nvSpPr>
        <p:spPr>
          <a:xfrm>
            <a:off x="4857750" y="2533650"/>
            <a:ext cx="1333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Treatment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117621-D169-4D56-A4A3-BE4C3BC36F35}"/>
              </a:ext>
            </a:extLst>
          </p:cNvPr>
          <p:cNvSpPr>
            <a:spLocks noGrp="1"/>
          </p:cNvSpPr>
          <p:nvPr/>
        </p:nvSpPr>
        <p:spPr>
          <a:xfrm>
            <a:off x="8020050" y="2533650"/>
            <a:ext cx="1333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cxnSp>
        <p:nvCxnSpPr>
          <p:cNvPr id="26" name="Straight Arrow Connector 25"/>
          <p:cNvCxnSpPr>
            <a:stCxn id="4" idx="3"/>
            <a:endCxn id="5" idx="1"/>
          </p:cNvCxnSpPr>
          <p:nvPr/>
        </p:nvCxnSpPr>
        <p:spPr>
          <a:xfrm>
            <a:off x="3028950" y="2905125"/>
            <a:ext cx="1828800" cy="0"/>
          </a:xfrm>
          <a:prstGeom prst="straightConnector1">
            <a:avLst/>
          </a:prstGeom>
          <a:ln w="19050">
            <a:solidFill>
              <a:srgbClr val="FF6B3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7" name="Connector: Elbow 26"/>
          <p:cNvCxnSpPr>
            <a:stCxn id="4" idx="3"/>
            <a:endCxn id="6" idx="1"/>
          </p:cNvCxnSpPr>
          <p:nvPr/>
        </p:nvCxnSpPr>
        <p:spPr>
          <a:xfrm>
            <a:off x="3028950" y="2419350"/>
            <a:ext cx="4991100" cy="485775"/>
          </a:xfrm>
          <a:prstGeom prst="bentConnector4">
            <a:avLst/>
          </a:prstGeom>
          <a:ln w="19050">
            <a:solidFill>
              <a:srgbClr val="FF6B3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8" name="Straight Arrow Connector 27"/>
          <p:cNvCxnSpPr>
            <a:stCxn id="5" idx="3"/>
            <a:endCxn id="6" idx="1"/>
          </p:cNvCxnSpPr>
          <p:nvPr/>
        </p:nvCxnSpPr>
        <p:spPr>
          <a:xfrm>
            <a:off x="6191250" y="2905125"/>
            <a:ext cx="1828800" cy="0"/>
          </a:xfrm>
          <a:prstGeom prst="straightConnector1">
            <a:avLst/>
          </a:prstGeom>
          <a:ln w="28575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DBB656-BD0D-4BCC-84B9-ED6E47F58F0E}"/>
              </a:ext>
            </a:extLst>
          </p:cNvPr>
          <p:cNvSpPr>
            <a:spLocks noGrp="1"/>
          </p:cNvSpPr>
          <p:nvPr/>
        </p:nvSpPr>
        <p:spPr>
          <a:xfrm>
            <a:off x="2190750" y="3790950"/>
            <a:ext cx="771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Goal: identify T -&gt; Y after adjusting for pre-treatment X.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301E3F-657E-4378-9C65-181B5535AE8F}"/>
              </a:ext>
            </a:extLst>
          </p:cNvPr>
          <p:cNvSpPr>
            <a:spLocks noGrp="1"/>
          </p:cNvSpPr>
          <p:nvPr/>
        </p:nvSpPr>
        <p:spPr>
          <a:xfrm>
            <a:off x="990600" y="4800600"/>
            <a:ext cx="2952750" cy="9525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857A87-AC89-44C9-8758-8DA0DCA7DB05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Exchangeability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6F5B23-6865-41A9-9B68-EA027DAB038A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(Y(1), Y(0)) independent of T | 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F496D6-1D7D-4F66-A061-E1FCEA1FF016}"/>
              </a:ext>
            </a:extLst>
          </p:cNvPr>
          <p:cNvSpPr>
            <a:spLocks noGrp="1"/>
          </p:cNvSpPr>
          <p:nvPr/>
        </p:nvSpPr>
        <p:spPr>
          <a:xfrm>
            <a:off x="4629150" y="4800600"/>
            <a:ext cx="2952750" cy="9525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5979D5-6C0C-4726-A97C-946CC665ED26}"/>
              </a:ext>
            </a:extLst>
          </p:cNvPr>
          <p:cNvSpPr>
            <a:spLocks noGrp="1"/>
          </p:cNvSpPr>
          <p:nvPr/>
        </p:nvSpPr>
        <p:spPr>
          <a:xfrm>
            <a:off x="4876800" y="50292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Positivity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3DAB70-C3FD-4CC7-8839-0DA7D2B16408}"/>
              </a:ext>
            </a:extLst>
          </p:cNvPr>
          <p:cNvSpPr>
            <a:spLocks noGrp="1"/>
          </p:cNvSpPr>
          <p:nvPr/>
        </p:nvSpPr>
        <p:spPr>
          <a:xfrm>
            <a:off x="4876800" y="535305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&lt; P(T=1 | X=x) &lt;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B13D37-7EA5-4760-A809-25E33D7802AC}"/>
              </a:ext>
            </a:extLst>
          </p:cNvPr>
          <p:cNvSpPr>
            <a:spLocks noGrp="1"/>
          </p:cNvSpPr>
          <p:nvPr/>
        </p:nvSpPr>
        <p:spPr>
          <a:xfrm>
            <a:off x="8267700" y="4800600"/>
            <a:ext cx="2952750" cy="9525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3EBE60-DDF0-42F9-9859-ADD7767835AF}"/>
              </a:ext>
            </a:extLst>
          </p:cNvPr>
          <p:cNvSpPr>
            <a:spLocks noGrp="1"/>
          </p:cNvSpPr>
          <p:nvPr/>
        </p:nvSpPr>
        <p:spPr>
          <a:xfrm>
            <a:off x="8515350" y="50292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Consistency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0F957B-5B94-4D01-93B6-220C7DD5E175}"/>
              </a:ext>
            </a:extLst>
          </p:cNvPr>
          <p:cNvSpPr>
            <a:spLocks noGrp="1"/>
          </p:cNvSpPr>
          <p:nvPr/>
        </p:nvSpPr>
        <p:spPr>
          <a:xfrm>
            <a:off x="8515350" y="535305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97"/>
          </a:bodyPr>
          <a:lstStyle/>
          <a:p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Treatment and outcome are well-defined</a:t>
            </a:r>
          </a:p>
        </p:txBody>
      </p:sp>
    </p:spTree>
    <p:extLst>
      <p:ext uri="{BB962C8B-B14F-4D97-AF65-F5344CB8AC3E}">
        <p14:creationId xmlns:p14="http://schemas.microsoft.com/office/powerpoint/2010/main" val="694754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-label">
            <a:extLst>
              <a:ext uri="{FF2B5EF4-FFF2-40B4-BE49-F238E27FC236}">
                <a16:creationId xmlns:a16="http://schemas.microsoft.com/office/drawing/2014/main" id="{F6313F4C-7AB8-48C2-AE90-A38A1C11A8F2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Observed confounding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1A1BDB1-69BC-4A7F-A5C4-6BD6B880E9D7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Matching and propensity scores are design tools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67879DA-D266-4D9C-B537-259C9B87DB21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723900" y="1524000"/>
          <a:ext cx="58102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F53F4B4-85D5-4329-9513-21A7C045AB58}"/>
              </a:ext>
            </a:extLst>
          </p:cNvPr>
          <p:cNvSpPr>
            <a:spLocks noGrp="1"/>
          </p:cNvSpPr>
          <p:nvPr/>
        </p:nvSpPr>
        <p:spPr>
          <a:xfrm>
            <a:off x="1447800" y="50292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Standardized mean difference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E6E1B7-DF92-4238-9CC8-8D242B89728F}"/>
              </a:ext>
            </a:extLst>
          </p:cNvPr>
          <p:cNvSpPr>
            <a:spLocks noGrp="1"/>
          </p:cNvSpPr>
          <p:nvPr/>
        </p:nvSpPr>
        <p:spPr>
          <a:xfrm>
            <a:off x="7277100" y="15621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to check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784DB3-ED16-4C7A-860C-737CFA7AED3D}"/>
              </a:ext>
            </a:extLst>
          </p:cNvPr>
          <p:cNvSpPr>
            <a:spLocks noGrp="1"/>
          </p:cNvSpPr>
          <p:nvPr/>
        </p:nvSpPr>
        <p:spPr>
          <a:xfrm>
            <a:off x="7277100" y="2038350"/>
            <a:ext cx="39052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Balance after matching or weighting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Overlap in propensity score distributions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Units dropped by calipers or trimming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Whether the estimand changed to ATT or a trimmed population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5C1FB4-AD91-4E8D-AEDB-689A9A541DBF}"/>
              </a:ext>
            </a:extLst>
          </p:cNvPr>
          <p:cNvSpPr>
            <a:spLocks noGrp="1"/>
          </p:cNvSpPr>
          <p:nvPr/>
        </p:nvSpPr>
        <p:spPr>
          <a:xfrm>
            <a:off x="7296150" y="4552950"/>
            <a:ext cx="3905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56"/>
          </a:bodyPr>
          <a:lstStyle/>
          <a:p>
            <a:pPr algn="l">
              <a:defRPr sz="187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These methods address observed confounding. They do not remove hidden confounders.</a:t>
            </a:r>
          </a:p>
        </p:txBody>
      </p:sp>
    </p:spTree>
    <p:extLst>
      <p:ext uri="{BB962C8B-B14F-4D97-AF65-F5344CB8AC3E}">
        <p14:creationId xmlns:p14="http://schemas.microsoft.com/office/powerpoint/2010/main" val="159644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-label">
            <a:extLst>
              <a:ext uri="{FF2B5EF4-FFF2-40B4-BE49-F238E27FC236}">
                <a16:creationId xmlns:a16="http://schemas.microsoft.com/office/drawing/2014/main" id="{499AE619-D7EC-4B0B-8B4A-FE4DD9729179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Unmeasured confounding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7A51F09-3458-43A6-81A8-46FBDA3756A2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Instrumental variables use a credible nudge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FAE6905-D589-4F47-83F9-EC3500863734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424040-7991-4A3E-BA76-F064FA314394}"/>
              </a:ext>
            </a:extLst>
          </p:cNvPr>
          <p:cNvSpPr>
            <a:spLocks noGrp="1"/>
          </p:cNvSpPr>
          <p:nvPr/>
        </p:nvSpPr>
        <p:spPr>
          <a:xfrm>
            <a:off x="1143000" y="2628900"/>
            <a:ext cx="1352550" cy="704850"/>
          </a:xfrm>
          <a:prstGeom prst="roundRect">
            <a:avLst>
              <a:gd name="adj" fmla="val 10811"/>
            </a:avLst>
          </a:prstGeom>
          <a:solidFill>
            <a:srgbClr val="EDEDED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Instrument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2F1BDD-618A-47F5-8A55-ADCFF6299C9B}"/>
              </a:ext>
            </a:extLst>
          </p:cNvPr>
          <p:cNvSpPr>
            <a:spLocks noGrp="1"/>
          </p:cNvSpPr>
          <p:nvPr/>
        </p:nvSpPr>
        <p:spPr>
          <a:xfrm>
            <a:off x="4514850" y="2628900"/>
            <a:ext cx="13525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Treatment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F8E3D4-6900-444E-8D71-330A8C585BD5}"/>
              </a:ext>
            </a:extLst>
          </p:cNvPr>
          <p:cNvSpPr>
            <a:spLocks noGrp="1"/>
          </p:cNvSpPr>
          <p:nvPr/>
        </p:nvSpPr>
        <p:spPr>
          <a:xfrm>
            <a:off x="7886700" y="2628900"/>
            <a:ext cx="13525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28524C-B0D5-435F-89C4-8689E11D033D}"/>
              </a:ext>
            </a:extLst>
          </p:cNvPr>
          <p:cNvSpPr>
            <a:spLocks noGrp="1"/>
          </p:cNvSpPr>
          <p:nvPr/>
        </p:nvSpPr>
        <p:spPr>
          <a:xfrm>
            <a:off x="4514850" y="1371600"/>
            <a:ext cx="1352550" cy="60960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4288">
            <a:solidFill>
              <a:srgbClr val="FF6B35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Unobserved</a:t>
            </a:r>
          </a:p>
        </p:txBody>
      </p:sp>
      <p:cxnSp>
        <p:nvCxnSpPr>
          <p:cNvPr id="23" name="Straight Arrow Connector 22"/>
          <p:cNvCxnSpPr>
            <a:stCxn id="4" idx="3"/>
            <a:endCxn id="5" idx="1"/>
          </p:cNvCxnSpPr>
          <p:nvPr/>
        </p:nvCxnSpPr>
        <p:spPr>
          <a:xfrm>
            <a:off x="2495550" y="2981325"/>
            <a:ext cx="2019300" cy="0"/>
          </a:xfrm>
          <a:prstGeom prst="straightConnector1">
            <a:avLst/>
          </a:prstGeom>
          <a:ln w="28575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4" name="Straight Arrow Connector 23"/>
          <p:cNvCxnSpPr>
            <a:stCxn id="5" idx="3"/>
            <a:endCxn id="6" idx="1"/>
          </p:cNvCxnSpPr>
          <p:nvPr/>
        </p:nvCxnSpPr>
        <p:spPr>
          <a:xfrm>
            <a:off x="5867400" y="2981325"/>
            <a:ext cx="2019300" cy="0"/>
          </a:xfrm>
          <a:prstGeom prst="straightConnector1">
            <a:avLst/>
          </a:prstGeom>
          <a:ln w="28575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5" name="Straight Arrow Connector 24"/>
          <p:cNvCxnSpPr>
            <a:stCxn id="7" idx="2"/>
            <a:endCxn id="5" idx="0"/>
          </p:cNvCxnSpPr>
          <p:nvPr/>
        </p:nvCxnSpPr>
        <p:spPr>
          <a:xfrm>
            <a:off x="5191125" y="1981200"/>
            <a:ext cx="0" cy="647700"/>
          </a:xfrm>
          <a:prstGeom prst="straightConnector1">
            <a:avLst/>
          </a:prstGeom>
          <a:ln w="19050">
            <a:solidFill>
              <a:srgbClr val="FF6B3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26" name="Connector: Elbow 25"/>
          <p:cNvCxnSpPr>
            <a:stCxn id="7" idx="2"/>
            <a:endCxn id="6" idx="0"/>
          </p:cNvCxnSpPr>
          <p:nvPr/>
        </p:nvCxnSpPr>
        <p:spPr>
          <a:xfrm>
            <a:off x="5191125" y="1981200"/>
            <a:ext cx="3371850" cy="6477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F6B3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66E22E5-C194-473F-887B-C8B5441D831A}"/>
              </a:ext>
            </a:extLst>
          </p:cNvPr>
          <p:cNvSpPr>
            <a:spLocks noGrp="1"/>
          </p:cNvSpPr>
          <p:nvPr/>
        </p:nvSpPr>
        <p:spPr>
          <a:xfrm>
            <a:off x="1924050" y="38290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No direct path Z -&gt; 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799B33-D1AF-4237-8027-EECF01E68D70}"/>
              </a:ext>
            </a:extLst>
          </p:cNvPr>
          <p:cNvSpPr>
            <a:spLocks noGrp="1"/>
          </p:cNvSpPr>
          <p:nvPr/>
        </p:nvSpPr>
        <p:spPr>
          <a:xfrm>
            <a:off x="9525000" y="13716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IV assumptions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10C44C-154A-4956-9A28-86D1D592C9EA}"/>
              </a:ext>
            </a:extLst>
          </p:cNvPr>
          <p:cNvSpPr>
            <a:spLocks noGrp="1"/>
          </p:cNvSpPr>
          <p:nvPr/>
        </p:nvSpPr>
        <p:spPr>
          <a:xfrm>
            <a:off x="9525000" y="1809750"/>
            <a:ext cx="20764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Relevance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Independence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Exclusion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Monotonicity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No interference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883CAB-E376-4735-836A-C99AD168D7C1}"/>
              </a:ext>
            </a:extLst>
          </p:cNvPr>
          <p:cNvSpPr>
            <a:spLocks noGrp="1"/>
          </p:cNvSpPr>
          <p:nvPr/>
        </p:nvSpPr>
        <p:spPr>
          <a:xfrm>
            <a:off x="971550" y="5105400"/>
            <a:ext cx="9677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Correction: exclusion is not Z independent of Y given T. It is a claim that Z affects Y only through T.</a:t>
            </a:r>
          </a:p>
        </p:txBody>
      </p:sp>
    </p:spTree>
    <p:extLst>
      <p:ext uri="{BB962C8B-B14F-4D97-AF65-F5344CB8AC3E}">
        <p14:creationId xmlns:p14="http://schemas.microsoft.com/office/powerpoint/2010/main" val="99623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-label">
            <a:extLst>
              <a:ext uri="{FF2B5EF4-FFF2-40B4-BE49-F238E27FC236}">
                <a16:creationId xmlns:a16="http://schemas.microsoft.com/office/drawing/2014/main" id="{0374BAE0-075F-41BF-9137-09FAA0BA336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Instrumental variables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CE42994-2B89-4E4A-BDC5-E6230D4BD649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2SLS estimates instrument-induced treatment variation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E77CE98-201A-4233-91B3-E582C59302EC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D5DF77-57E1-4419-B441-A01338E1EB2D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4476750" cy="2381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A0EDA0-A807-41E9-802F-8497A50A89B9}"/>
              </a:ext>
            </a:extLst>
          </p:cNvPr>
          <p:cNvSpPr>
            <a:spLocks noGrp="1"/>
          </p:cNvSpPr>
          <p:nvPr/>
        </p:nvSpPr>
        <p:spPr>
          <a:xfrm>
            <a:off x="7010400" y="1905000"/>
            <a:ext cx="4476750" cy="2381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19" name="Straight Arrow Connector 18"/>
          <p:cNvCxnSpPr>
            <a:stCxn id="4" idx="3"/>
            <a:endCxn id="5" idx="1"/>
          </p:cNvCxnSpPr>
          <p:nvPr/>
        </p:nvCxnSpPr>
        <p:spPr>
          <a:xfrm>
            <a:off x="5181600" y="3095625"/>
            <a:ext cx="1828800" cy="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5B9CFF7-9030-4621-8F2E-3CC84387C1CA}"/>
              </a:ext>
            </a:extLst>
          </p:cNvPr>
          <p:cNvSpPr>
            <a:spLocks noGrp="1"/>
          </p:cNvSpPr>
          <p:nvPr/>
        </p:nvSpPr>
        <p:spPr>
          <a:xfrm>
            <a:off x="1066800" y="2190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Stage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B83ACC-26E7-463D-92BA-2ECC75DC2F7B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3600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 = a0 + a1 Z + g'X + 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D18874-CB06-49BA-9650-E7142BF274D1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3543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91"/>
          </a:bodyPr>
          <a:lstStyle/>
          <a:p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Keep the part of treatment explained by the instrument.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83287A-A4D7-4AD5-9333-F00A3F4D64B4}"/>
              </a:ext>
            </a:extLst>
          </p:cNvPr>
          <p:cNvSpPr>
            <a:spLocks noGrp="1"/>
          </p:cNvSpPr>
          <p:nvPr/>
        </p:nvSpPr>
        <p:spPr>
          <a:xfrm>
            <a:off x="7372350" y="2190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Stage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D7522F-9FAF-4167-8017-97A7ADA42D46}"/>
              </a:ext>
            </a:extLst>
          </p:cNvPr>
          <p:cNvSpPr>
            <a:spLocks noGrp="1"/>
          </p:cNvSpPr>
          <p:nvPr/>
        </p:nvSpPr>
        <p:spPr>
          <a:xfrm>
            <a:off x="7372350" y="2876550"/>
            <a:ext cx="3600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 = b0 + b1 T_hat + d'X + 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D7021D-A310-4F54-B209-8984CE126293}"/>
              </a:ext>
            </a:extLst>
          </p:cNvPr>
          <p:cNvSpPr>
            <a:spLocks noGrp="1"/>
          </p:cNvSpPr>
          <p:nvPr/>
        </p:nvSpPr>
        <p:spPr>
          <a:xfrm>
            <a:off x="7372350" y="3524250"/>
            <a:ext cx="3543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91"/>
          </a:bodyPr>
          <a:lstStyle/>
          <a:p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Relate instrument-induced treatment variation to the outcome.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812A0C-936C-4A5E-8724-664710A1824F}"/>
              </a:ext>
            </a:extLst>
          </p:cNvPr>
          <p:cNvSpPr>
            <a:spLocks noGrp="1"/>
          </p:cNvSpPr>
          <p:nvPr/>
        </p:nvSpPr>
        <p:spPr>
          <a:xfrm>
            <a:off x="990600" y="510540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Interpretation: with a valid binary IV and monotonicity, b1 is a LATE/CACE for compliers, not automatically the ATE.</a:t>
            </a:r>
          </a:p>
        </p:txBody>
      </p:sp>
    </p:spTree>
    <p:extLst>
      <p:ext uri="{BB962C8B-B14F-4D97-AF65-F5344CB8AC3E}">
        <p14:creationId xmlns:p14="http://schemas.microsoft.com/office/powerpoint/2010/main" val="1196884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-label">
            <a:extLst>
              <a:ext uri="{FF2B5EF4-FFF2-40B4-BE49-F238E27FC236}">
                <a16:creationId xmlns:a16="http://schemas.microsoft.com/office/drawing/2014/main" id="{D3F3A852-D7C7-455B-BAD9-DC83D24A0660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Quasi-experiment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A1A30C0-13A4-4306-ABB2-885920490107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Difference-in-differences compares changes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323BDB2-2CA9-450D-B6A9-A38F41781007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647E7E-FBE1-4B2C-A443-A99B9D723107}"/>
              </a:ext>
            </a:extLst>
          </p:cNvPr>
          <p:cNvSpPr>
            <a:spLocks noGrp="1"/>
          </p:cNvSpPr>
          <p:nvPr/>
        </p:nvSpPr>
        <p:spPr>
          <a:xfrm>
            <a:off x="514350" y="1333500"/>
            <a:ext cx="6572250" cy="4476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14400" y="1752600"/>
          <a:ext cx="581025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4496A27-5A62-498E-A436-D3CB10C3390A}"/>
              </a:ext>
            </a:extLst>
          </p:cNvPr>
          <p:cNvSpPr>
            <a:spLocks noGrp="1"/>
          </p:cNvSpPr>
          <p:nvPr/>
        </p:nvSpPr>
        <p:spPr>
          <a:xfrm>
            <a:off x="1257300" y="51625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Effect = (15 - 10) - (6 - 4) =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BC9B77-31E9-467C-95D8-4F3F82832AB4}"/>
              </a:ext>
            </a:extLst>
          </p:cNvPr>
          <p:cNvSpPr>
            <a:spLocks noGrp="1"/>
          </p:cNvSpPr>
          <p:nvPr/>
        </p:nvSpPr>
        <p:spPr>
          <a:xfrm>
            <a:off x="7696200" y="16764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Key assumption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E18B-061D-4E6D-8C83-15BF95D82D08}"/>
              </a:ext>
            </a:extLst>
          </p:cNvPr>
          <p:cNvSpPr>
            <a:spLocks noGrp="1"/>
          </p:cNvSpPr>
          <p:nvPr/>
        </p:nvSpPr>
        <p:spPr>
          <a:xfrm>
            <a:off x="7696200" y="21907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Parallel trends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698845-A055-42DF-90C7-30261D004840}"/>
              </a:ext>
            </a:extLst>
          </p:cNvPr>
          <p:cNvSpPr>
            <a:spLocks noGrp="1"/>
          </p:cNvSpPr>
          <p:nvPr/>
        </p:nvSpPr>
        <p:spPr>
          <a:xfrm>
            <a:off x="7696200" y="2895600"/>
            <a:ext cx="3257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the absence of treatment, treated units would have changed like control units.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54D80-E172-4AC4-BF05-46CAFC3789D4}"/>
              </a:ext>
            </a:extLst>
          </p:cNvPr>
          <p:cNvSpPr>
            <a:spLocks noGrp="1"/>
          </p:cNvSpPr>
          <p:nvPr/>
        </p:nvSpPr>
        <p:spPr>
          <a:xfrm>
            <a:off x="7696200" y="4533900"/>
            <a:ext cx="3409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Pre-trends can reveal problems, but they cannot prove the post-treatment counterfactual.</a:t>
            </a:r>
          </a:p>
        </p:txBody>
      </p:sp>
    </p:spTree>
    <p:extLst>
      <p:ext uri="{BB962C8B-B14F-4D97-AF65-F5344CB8AC3E}">
        <p14:creationId xmlns:p14="http://schemas.microsoft.com/office/powerpoint/2010/main" val="1622826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-label">
            <a:extLst>
              <a:ext uri="{FF2B5EF4-FFF2-40B4-BE49-F238E27FC236}">
                <a16:creationId xmlns:a16="http://schemas.microsoft.com/office/drawing/2014/main" id="{8F8CFC19-72FA-4E4B-9478-4639EC83E5F5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Modern DiD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FBC7C2C-753C-49CF-904D-6ED04745CCE7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Staggered adoption needs group-time effects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2AF6CA99-92CB-4F15-BE56-35DCC29E3206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666750" y="1619250"/>
          <a:ext cx="7239000" cy="2857500"/>
        </p:xfrm>
        <a:graphic>
          <a:graphicData uri="http://schemas.openxmlformats.org/drawingml/2006/table">
            <a:tbl>
              <a:tblPr firstRow="1" bandRow="1"/>
              <a:tblGrid>
                <a:gridCol w="1531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1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t>Cohort g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Pre-period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Post t=g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Later t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Estimand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t>2004 adopters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ATT(2004,t)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t>2006 adopters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ATT(2006,t)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t>Never-treated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9244456-2146-4856-8309-6AFF367FE8EF}"/>
              </a:ext>
            </a:extLst>
          </p:cNvPr>
          <p:cNvSpPr>
            <a:spLocks noGrp="1"/>
          </p:cNvSpPr>
          <p:nvPr/>
        </p:nvSpPr>
        <p:spPr>
          <a:xfrm>
            <a:off x="8343900" y="1619250"/>
            <a:ext cx="2857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l">
              <a:defRPr sz="195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Naive two-way fixed effects can be misleading when effects differ by cohort or event time.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D4F9C2-8557-491A-BF7A-2F13BE33630F}"/>
              </a:ext>
            </a:extLst>
          </p:cNvPr>
          <p:cNvSpPr>
            <a:spLocks noGrp="1"/>
          </p:cNvSpPr>
          <p:nvPr/>
        </p:nvSpPr>
        <p:spPr>
          <a:xfrm>
            <a:off x="8343900" y="3219450"/>
            <a:ext cx="3143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Estimate ATT(g,t)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Aggregate to overall, dynamic, cohort, or calendar effects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State whether controls are never-treated or not-yet-treated</a:t>
            </a:r>
          </a:p>
        </p:txBody>
      </p:sp>
    </p:spTree>
    <p:extLst>
      <p:ext uri="{BB962C8B-B14F-4D97-AF65-F5344CB8AC3E}">
        <p14:creationId xmlns:p14="http://schemas.microsoft.com/office/powerpoint/2010/main" val="1522870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-label">
            <a:extLst>
              <a:ext uri="{FF2B5EF4-FFF2-40B4-BE49-F238E27FC236}">
                <a16:creationId xmlns:a16="http://schemas.microsoft.com/office/drawing/2014/main" id="{30F1BA3C-7189-4BBC-A915-11415C455A7D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Quasi-experiment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EC49D3A-C05F-4294-BE38-1D7A104E1E4B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Regression discontinuity is local to a cutoff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8A81C58-2BE4-4AE1-B7C4-F03D09607708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8900D-C2F9-4562-969C-487C6117351F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6762750" cy="4572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52500" y="1771650"/>
          <a:ext cx="5905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DC26A1D-CE46-4ACF-B9A2-263C371ED7DE}"/>
              </a:ext>
            </a:extLst>
          </p:cNvPr>
          <p:cNvSpPr>
            <a:spLocks noGrp="1"/>
          </p:cNvSpPr>
          <p:nvPr/>
        </p:nvSpPr>
        <p:spPr>
          <a:xfrm>
            <a:off x="4000500" y="51625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Cutoff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1455DE8-BDEB-4031-B975-D2FCE41356D0}"/>
              </a:ext>
            </a:extLst>
          </p:cNvPr>
          <p:cNvSpPr>
            <a:spLocks noGrp="1"/>
          </p:cNvSpPr>
          <p:nvPr/>
        </p:nvSpPr>
        <p:spPr>
          <a:xfrm>
            <a:off x="4086225" y="1828800"/>
            <a:ext cx="0" cy="24765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74A844-DAA7-42D7-A48C-99D52790DAC5}"/>
              </a:ext>
            </a:extLst>
          </p:cNvPr>
          <p:cNvSpPr>
            <a:spLocks noGrp="1"/>
          </p:cNvSpPr>
          <p:nvPr/>
        </p:nvSpPr>
        <p:spPr>
          <a:xfrm>
            <a:off x="7943850" y="15621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Diagnostics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51FDB7-7063-40D5-865E-01B08F68537B}"/>
              </a:ext>
            </a:extLst>
          </p:cNvPr>
          <p:cNvSpPr>
            <a:spLocks noGrp="1"/>
          </p:cNvSpPr>
          <p:nvPr/>
        </p:nvSpPr>
        <p:spPr>
          <a:xfrm>
            <a:off x="7943850" y="2038350"/>
            <a:ext cx="32766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No precise manipulation near cutoff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Pre-treatment covariates continuous at cutoff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Bandwidth and polynomial sensitivity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Sharp versus fuzzy assignment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07CE35-C8AC-4AEB-8642-F77DC3EFDB56}"/>
              </a:ext>
            </a:extLst>
          </p:cNvPr>
          <p:cNvSpPr>
            <a:spLocks noGrp="1"/>
          </p:cNvSpPr>
          <p:nvPr/>
        </p:nvSpPr>
        <p:spPr>
          <a:xfrm>
            <a:off x="7943850" y="4686300"/>
            <a:ext cx="3276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Credible near the threshold; weak for extrapolation far away.</a:t>
            </a:r>
          </a:p>
        </p:txBody>
      </p:sp>
    </p:spTree>
    <p:extLst>
      <p:ext uri="{BB962C8B-B14F-4D97-AF65-F5344CB8AC3E}">
        <p14:creationId xmlns:p14="http://schemas.microsoft.com/office/powerpoint/2010/main" val="481589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-label">
            <a:extLst>
              <a:ext uri="{FF2B5EF4-FFF2-40B4-BE49-F238E27FC236}">
                <a16:creationId xmlns:a16="http://schemas.microsoft.com/office/drawing/2014/main" id="{03FA4CFA-8B1D-41D7-B9C7-25C5E4F4A8A0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Panel design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2B33ACE-0DB2-435E-A7CB-FE37D38DDC81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 control builds a weighted counterfactual path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35B2190-601D-4DF5-B8D1-59F685CD1CE0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A74BA-6E0E-4268-BFE5-577574E34D85}"/>
              </a:ext>
            </a:extLst>
          </p:cNvPr>
          <p:cNvSpPr>
            <a:spLocks noGrp="1"/>
          </p:cNvSpPr>
          <p:nvPr/>
        </p:nvSpPr>
        <p:spPr>
          <a:xfrm>
            <a:off x="514350" y="1333500"/>
            <a:ext cx="6838950" cy="4572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14400" y="1733550"/>
          <a:ext cx="60198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86A57E5-48C3-4F62-A16D-3EE7ECFEF281}"/>
              </a:ext>
            </a:extLst>
          </p:cNvPr>
          <p:cNvSpPr>
            <a:spLocks noGrp="1"/>
          </p:cNvSpPr>
          <p:nvPr/>
        </p:nvSpPr>
        <p:spPr>
          <a:xfrm>
            <a:off x="4381500" y="5162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Intervention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6F6341B-88AE-40FA-9E0A-C6C9BA0232F5}"/>
              </a:ext>
            </a:extLst>
          </p:cNvPr>
          <p:cNvSpPr>
            <a:spLocks noGrp="1"/>
          </p:cNvSpPr>
          <p:nvPr/>
        </p:nvSpPr>
        <p:spPr>
          <a:xfrm>
            <a:off x="4457700" y="1828800"/>
            <a:ext cx="0" cy="24765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46A55-2D12-4A6F-BB3A-22FC45234353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Useful when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63FA5C-426A-4CC2-8698-F6A9BF8A98EC}"/>
              </a:ext>
            </a:extLst>
          </p:cNvPr>
          <p:cNvSpPr>
            <a:spLocks noGrp="1"/>
          </p:cNvSpPr>
          <p:nvPr/>
        </p:nvSpPr>
        <p:spPr>
          <a:xfrm>
            <a:off x="7962900" y="2038350"/>
            <a:ext cx="32766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One or few treated aggregate units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Many pre-treatment periods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Weighted controls match the pre-period path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46BFE3-F4CA-4F97-9A50-1162CAFE7108}"/>
              </a:ext>
            </a:extLst>
          </p:cNvPr>
          <p:cNvSpPr>
            <a:spLocks noGrp="1"/>
          </p:cNvSpPr>
          <p:nvPr/>
        </p:nvSpPr>
        <p:spPr>
          <a:xfrm>
            <a:off x="7962900" y="4305300"/>
            <a:ext cx="3276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 simply a better version of matching. Poor pre-treatment fit weakens credibility.</a:t>
            </a:r>
          </a:p>
        </p:txBody>
      </p:sp>
    </p:spTree>
    <p:extLst>
      <p:ext uri="{BB962C8B-B14F-4D97-AF65-F5344CB8AC3E}">
        <p14:creationId xmlns:p14="http://schemas.microsoft.com/office/powerpoint/2010/main" val="247189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-label">
            <a:extLst>
              <a:ext uri="{FF2B5EF4-FFF2-40B4-BE49-F238E27FC236}">
                <a16:creationId xmlns:a16="http://schemas.microsoft.com/office/drawing/2014/main" id="{BF5A34EC-27D1-4D46-9EAE-945B3CD16A8A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Causal ML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71184C0-D6EB-4BB2-9317-67099BF80BB7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DML uses ML for nuisance functions, not for identification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B6E6A89-DE8B-4C63-8BF2-B13B279FF733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F610EC-77E1-47BB-A2EF-7673F0E55AD5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2190750" cy="819150"/>
          </a:xfrm>
          <a:prstGeom prst="roundRect">
            <a:avLst>
              <a:gd name="adj" fmla="val 9302"/>
            </a:avLst>
          </a:prstGeom>
          <a:solidFill>
            <a:srgbClr val="F7F7F7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 Y from X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 nuisance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B4645F-ADC6-4C7C-8705-FA1799ACD7BB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2190750" cy="819150"/>
          </a:xfrm>
          <a:prstGeom prst="roundRect">
            <a:avLst>
              <a:gd name="adj" fmla="val 9302"/>
            </a:avLst>
          </a:prstGeom>
          <a:solidFill>
            <a:srgbClr val="F7F7F7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 T from X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Treatment nuisance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361CB2-FCF8-4AB9-92DB-0E1165CB6759}"/>
              </a:ext>
            </a:extLst>
          </p:cNvPr>
          <p:cNvSpPr>
            <a:spLocks noGrp="1"/>
          </p:cNvSpPr>
          <p:nvPr/>
        </p:nvSpPr>
        <p:spPr>
          <a:xfrm>
            <a:off x="4171950" y="20002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 residual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71A9A5-C5F7-430E-A2C1-FB10F60B9074}"/>
              </a:ext>
            </a:extLst>
          </p:cNvPr>
          <p:cNvSpPr>
            <a:spLocks noGrp="1"/>
          </p:cNvSpPr>
          <p:nvPr/>
        </p:nvSpPr>
        <p:spPr>
          <a:xfrm>
            <a:off x="4171950" y="37147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 residual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BDD75D-39F5-4EB5-AB25-44F02E1C0B88}"/>
              </a:ext>
            </a:extLst>
          </p:cNvPr>
          <p:cNvSpPr>
            <a:spLocks noGrp="1"/>
          </p:cNvSpPr>
          <p:nvPr/>
        </p:nvSpPr>
        <p:spPr>
          <a:xfrm>
            <a:off x="6858000" y="2800350"/>
            <a:ext cx="2095500" cy="895350"/>
          </a:xfrm>
          <a:prstGeom prst="roundRect">
            <a:avLst>
              <a:gd name="adj" fmla="val 8511"/>
            </a:avLst>
          </a:prstGeom>
          <a:solidFill>
            <a:srgbClr val="EDEDED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Orthogonal score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cross-fitting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864A5C-1667-4176-BFD4-405424242704}"/>
              </a:ext>
            </a:extLst>
          </p:cNvPr>
          <p:cNvSpPr>
            <a:spLocks noGrp="1"/>
          </p:cNvSpPr>
          <p:nvPr/>
        </p:nvSpPr>
        <p:spPr>
          <a:xfrm>
            <a:off x="9810750" y="2800350"/>
            <a:ext cx="1809750" cy="895350"/>
          </a:xfrm>
          <a:prstGeom prst="roundRect">
            <a:avLst>
              <a:gd name="adj" fmla="val 8511"/>
            </a:avLst>
          </a:prstGeom>
          <a:solidFill>
            <a:srgbClr val="FFF7ED"/>
          </a:solidFill>
          <a:ln w="14288">
            <a:solidFill>
              <a:srgbClr val="FF6B35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Causal parameter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under assumptions</a:t>
            </a:r>
          </a:p>
        </p:txBody>
      </p:sp>
      <p:cxnSp>
        <p:nvCxnSpPr>
          <p:cNvPr id="25" name="Straight Arrow Connector 24"/>
          <p:cNvCxnSpPr>
            <a:stCxn id="4" idx="3"/>
            <a:endCxn id="6" idx="1"/>
          </p:cNvCxnSpPr>
          <p:nvPr/>
        </p:nvCxnSpPr>
        <p:spPr>
          <a:xfrm flipV="1">
            <a:off x="2990850" y="2343150"/>
            <a:ext cx="1181100" cy="66675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6" name="Straight Arrow Connector 25"/>
          <p:cNvCxnSpPr>
            <a:stCxn id="5" idx="3"/>
            <a:endCxn id="7" idx="1"/>
          </p:cNvCxnSpPr>
          <p:nvPr/>
        </p:nvCxnSpPr>
        <p:spPr>
          <a:xfrm flipV="1">
            <a:off x="2990850" y="4057650"/>
            <a:ext cx="1181100" cy="66675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7" name="Straight Arrow Connector 26"/>
          <p:cNvCxnSpPr>
            <a:stCxn id="6" idx="3"/>
            <a:endCxn id="8" idx="1"/>
          </p:cNvCxnSpPr>
          <p:nvPr/>
        </p:nvCxnSpPr>
        <p:spPr>
          <a:xfrm>
            <a:off x="5791200" y="2343150"/>
            <a:ext cx="1066800" cy="904875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8" name="Straight Arrow Connector 27"/>
          <p:cNvCxnSpPr>
            <a:stCxn id="7" idx="3"/>
            <a:endCxn id="8" idx="1"/>
          </p:cNvCxnSpPr>
          <p:nvPr/>
        </p:nvCxnSpPr>
        <p:spPr>
          <a:xfrm flipV="1">
            <a:off x="5791200" y="3248025"/>
            <a:ext cx="1066800" cy="809625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9" name="Straight Arrow Connector 28"/>
          <p:cNvCxnSpPr>
            <a:stCxn id="8" idx="3"/>
            <a:endCxn id="9" idx="1"/>
          </p:cNvCxnSpPr>
          <p:nvPr/>
        </p:nvCxnSpPr>
        <p:spPr>
          <a:xfrm>
            <a:off x="8953500" y="3248025"/>
            <a:ext cx="857250" cy="0"/>
          </a:xfrm>
          <a:prstGeom prst="straightConnector1">
            <a:avLst/>
          </a:prstGeom>
          <a:ln w="19050">
            <a:solidFill>
              <a:srgbClr val="FF6B3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03F0ABE-9CC7-4696-9358-44BF6B3662C3}"/>
              </a:ext>
            </a:extLst>
          </p:cNvPr>
          <p:cNvSpPr>
            <a:spLocks noGrp="1"/>
          </p:cNvSpPr>
          <p:nvPr/>
        </p:nvSpPr>
        <p:spPr>
          <a:xfrm>
            <a:off x="1257300" y="525780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333"/>
          </a:bodyPr>
          <a:lstStyle/>
          <a:p>
            <a:pPr algn="l">
              <a:defRPr sz="187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DML helps with high-dimensional or nonlinear observed confounding. It does not cure hidden confounding or a bad instrument.</a:t>
            </a:r>
          </a:p>
        </p:txBody>
      </p:sp>
    </p:spTree>
    <p:extLst>
      <p:ext uri="{BB962C8B-B14F-4D97-AF65-F5344CB8AC3E}">
        <p14:creationId xmlns:p14="http://schemas.microsoft.com/office/powerpoint/2010/main" val="251075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-label">
            <a:extLst>
              <a:ext uri="{FF2B5EF4-FFF2-40B4-BE49-F238E27FC236}">
                <a16:creationId xmlns:a16="http://schemas.microsoft.com/office/drawing/2014/main" id="{91888E3F-2961-41C8-B312-F6AB495EFDB3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Causal ML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443EA05-9868-4F88-93CE-46A8C02CB5EC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the DML score for the design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5C5DD577-4C6C-409B-A348-5F8622372854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600200"/>
          <a:ext cx="10858500" cy="3390900"/>
        </p:xfrm>
        <a:graphic>
          <a:graphicData uri="http://schemas.openxmlformats.org/drawingml/2006/table">
            <a:tbl>
              <a:tblPr firstRow="1" bandRow="1"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r>
                        <a:t>Variant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Setup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t>PLR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Partially linear effect; continuous or binary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ATE-like slope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t>IRM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Binary treatment; outcome and propensity nuisance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ATE or ATT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t>PLIV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Endogenous treatment with instruments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IV-style parameter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t>DiD-DML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Panel/repeated data with DiD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 under DiD assumptions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t>RDD-DML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RDD with nuisance adjustment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Local effect at cutoff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5F2F8EF-94DC-4744-B40E-B789AFE46B80}"/>
              </a:ext>
            </a:extLst>
          </p:cNvPr>
          <p:cNvSpPr>
            <a:spLocks noGrp="1"/>
          </p:cNvSpPr>
          <p:nvPr/>
        </p:nvSpPr>
        <p:spPr>
          <a:xfrm>
            <a:off x="1219200" y="5543550"/>
            <a:ext cx="809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Do not use a single DML recipe for every problem.</a:t>
            </a:r>
          </a:p>
        </p:txBody>
      </p:sp>
    </p:spTree>
    <p:extLst>
      <p:ext uri="{BB962C8B-B14F-4D97-AF65-F5344CB8AC3E}">
        <p14:creationId xmlns:p14="http://schemas.microsoft.com/office/powerpoint/2010/main" val="640433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-label">
            <a:extLst>
              <a:ext uri="{FF2B5EF4-FFF2-40B4-BE49-F238E27FC236}">
                <a16:creationId xmlns:a16="http://schemas.microsoft.com/office/drawing/2014/main" id="{2D48BB12-919E-44BD-AF5F-00F48D2DF4B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CATE and HTE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45F6A3F-0823-4464-AE24-9B30C423C6B0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Heterogeneous effects ask who benefits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23FE7414-47E8-4C30-A634-EFC235E15069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10FBC7-B4DE-4D25-8B73-39AC7319E9EA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3181350" cy="2990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F2112-1110-4272-B947-EA1E8740E2B7}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152400" cy="152400"/>
          </a:xfrm>
          <a:prstGeom prst="rect">
            <a:avLst/>
          </a:prstGeom>
          <a:solidFill>
            <a:srgbClr val="55555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06E39-19C8-4ED0-81EF-DDB6199B8E7B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E20D4E-75CA-4834-9A89-4B2416876A0F}"/>
              </a:ext>
            </a:extLst>
          </p:cNvPr>
          <p:cNvSpPr>
            <a:spLocks noGrp="1"/>
          </p:cNvSpPr>
          <p:nvPr/>
        </p:nvSpPr>
        <p:spPr>
          <a:xfrm>
            <a:off x="762000" y="2686050"/>
            <a:ext cx="26860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Average effect for a population.</a:t>
            </a:r>
          </a:p>
          <a:p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Useful for global policy decisions.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FEB40A-C921-42F5-BEB0-53E517BB9596}"/>
              </a:ext>
            </a:extLst>
          </p:cNvPr>
          <p:cNvSpPr>
            <a:spLocks noGrp="1"/>
          </p:cNvSpPr>
          <p:nvPr/>
        </p:nvSpPr>
        <p:spPr>
          <a:xfrm>
            <a:off x="4495800" y="1695450"/>
            <a:ext cx="3181350" cy="2990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E15E96-21A5-4409-A8B1-4794EAD35663}"/>
              </a:ext>
            </a:extLst>
          </p:cNvPr>
          <p:cNvSpPr>
            <a:spLocks noGrp="1"/>
          </p:cNvSpPr>
          <p:nvPr/>
        </p:nvSpPr>
        <p:spPr>
          <a:xfrm>
            <a:off x="4743450" y="1962150"/>
            <a:ext cx="152400" cy="1524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301B28-D160-433A-8331-9EF7830093CF}"/>
              </a:ext>
            </a:extLst>
          </p:cNvPr>
          <p:cNvSpPr>
            <a:spLocks noGrp="1"/>
          </p:cNvSpPr>
          <p:nvPr/>
        </p:nvSpPr>
        <p:spPr>
          <a:xfrm>
            <a:off x="4743450" y="22288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E5B4BB-37B4-4893-8112-CE268E8EF4D0}"/>
              </a:ext>
            </a:extLst>
          </p:cNvPr>
          <p:cNvSpPr>
            <a:spLocks noGrp="1"/>
          </p:cNvSpPr>
          <p:nvPr/>
        </p:nvSpPr>
        <p:spPr>
          <a:xfrm>
            <a:off x="4743450" y="2686050"/>
            <a:ext cx="26860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tau(x) = E[Y(1)-Y(0) | X=x]</a:t>
            </a:r>
          </a:p>
          <a:p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Useful for targeting and personalization.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EB11AD-E152-49CF-96F4-27C98B51D643}"/>
              </a:ext>
            </a:extLst>
          </p:cNvPr>
          <p:cNvSpPr>
            <a:spLocks noGrp="1"/>
          </p:cNvSpPr>
          <p:nvPr/>
        </p:nvSpPr>
        <p:spPr>
          <a:xfrm>
            <a:off x="8477250" y="1695450"/>
            <a:ext cx="3181350" cy="2990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03A341-96A7-4C75-BF2D-8BEEC8008C17}"/>
              </a:ext>
            </a:extLst>
          </p:cNvPr>
          <p:cNvSpPr>
            <a:spLocks noGrp="1"/>
          </p:cNvSpPr>
          <p:nvPr/>
        </p:nvSpPr>
        <p:spPr>
          <a:xfrm>
            <a:off x="8724900" y="1962150"/>
            <a:ext cx="152400" cy="1524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9E53E6-743C-43D8-8118-6AB97DB3E44C}"/>
              </a:ext>
            </a:extLst>
          </p:cNvPr>
          <p:cNvSpPr>
            <a:spLocks noGrp="1"/>
          </p:cNvSpPr>
          <p:nvPr/>
        </p:nvSpPr>
        <p:spPr>
          <a:xfrm>
            <a:off x="8724900" y="22288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F4A6EB-8E42-439C-9EB4-3E1429BB67DD}"/>
              </a:ext>
            </a:extLst>
          </p:cNvPr>
          <p:cNvSpPr>
            <a:spLocks noGrp="1"/>
          </p:cNvSpPr>
          <p:nvPr/>
        </p:nvSpPr>
        <p:spPr>
          <a:xfrm>
            <a:off x="8724900" y="2686050"/>
            <a:ext cx="26860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 uncertainty, held-out ranking, policy value, or online tests.</a:t>
            </a:r>
          </a:p>
          <a:p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Segments are easy to overinterpret.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8CD27A-A46D-4DBC-94E0-4DA630138D2D}"/>
              </a:ext>
            </a:extLst>
          </p:cNvPr>
          <p:cNvSpPr>
            <a:spLocks noGrp="1"/>
          </p:cNvSpPr>
          <p:nvPr/>
        </p:nvSpPr>
        <p:spPr>
          <a:xfrm>
            <a:off x="1123950" y="54673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HTE methods estimate effect variation, not just outcome variation.</a:t>
            </a:r>
          </a:p>
        </p:txBody>
      </p:sp>
    </p:spTree>
    <p:extLst>
      <p:ext uri="{BB962C8B-B14F-4D97-AF65-F5344CB8AC3E}">
        <p14:creationId xmlns:p14="http://schemas.microsoft.com/office/powerpoint/2010/main" val="1193317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-label">
            <a:extLst>
              <a:ext uri="{FF2B5EF4-FFF2-40B4-BE49-F238E27FC236}">
                <a16:creationId xmlns:a16="http://schemas.microsoft.com/office/drawing/2014/main" id="{CA8946B3-72D3-4790-8FF8-E1269EBED957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CATE and forests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991BEE5-DC69-452D-A5A5-78BB200293CA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Causal forests target treatment-effect heterogeneity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8E03441-924A-45A9-A37E-F9B7CF88C850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DFA2E9-D6E1-4510-BB71-86F6861F3F31}"/>
              </a:ext>
            </a:extLst>
          </p:cNvPr>
          <p:cNvSpPr>
            <a:spLocks noGrp="1"/>
          </p:cNvSpPr>
          <p:nvPr/>
        </p:nvSpPr>
        <p:spPr>
          <a:xfrm>
            <a:off x="5143500" y="15430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units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0669B2-B2D6-47DA-8345-D9AFE8FD250D}"/>
              </a:ext>
            </a:extLst>
          </p:cNvPr>
          <p:cNvSpPr>
            <a:spLocks noGrp="1"/>
          </p:cNvSpPr>
          <p:nvPr/>
        </p:nvSpPr>
        <p:spPr>
          <a:xfrm>
            <a:off x="3238500" y="31432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7F7F7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X1 &lt;= c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Leaf effect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CAC836-8758-457D-A09B-28E09F9B650D}"/>
              </a:ext>
            </a:extLst>
          </p:cNvPr>
          <p:cNvSpPr>
            <a:spLocks noGrp="1"/>
          </p:cNvSpPr>
          <p:nvPr/>
        </p:nvSpPr>
        <p:spPr>
          <a:xfrm>
            <a:off x="6953250" y="31432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7F7F7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X1 &gt; c</a:t>
            </a:r>
          </a:p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Leaf effect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9BF744-1F26-4C73-9220-EF1556CDDF80}"/>
              </a:ext>
            </a:extLst>
          </p:cNvPr>
          <p:cNvSpPr>
            <a:spLocks noGrp="1"/>
          </p:cNvSpPr>
          <p:nvPr/>
        </p:nvSpPr>
        <p:spPr>
          <a:xfrm>
            <a:off x="2333625" y="4743450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tau low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90B290-BCAA-477E-AC18-581146F2913F}"/>
              </a:ext>
            </a:extLst>
          </p:cNvPr>
          <p:cNvSpPr>
            <a:spLocks noGrp="1"/>
          </p:cNvSpPr>
          <p:nvPr/>
        </p:nvSpPr>
        <p:spPr>
          <a:xfrm>
            <a:off x="4524375" y="4743450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tau mid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284D3B-142A-4763-9843-133CE0F21212}"/>
              </a:ext>
            </a:extLst>
          </p:cNvPr>
          <p:cNvSpPr>
            <a:spLocks noGrp="1"/>
          </p:cNvSpPr>
          <p:nvPr/>
        </p:nvSpPr>
        <p:spPr>
          <a:xfrm>
            <a:off x="6524625" y="4743450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tau high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77D130-F84C-4CF0-9F07-D56D16E10D5B}"/>
              </a:ext>
            </a:extLst>
          </p:cNvPr>
          <p:cNvSpPr>
            <a:spLocks noGrp="1"/>
          </p:cNvSpPr>
          <p:nvPr/>
        </p:nvSpPr>
        <p:spPr>
          <a:xfrm>
            <a:off x="8715375" y="4743450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tau noisy</a:t>
            </a:r>
          </a:p>
        </p:txBody>
      </p:sp>
      <p:cxnSp>
        <p:nvCxnSpPr>
          <p:cNvPr id="29" name="Straight Arrow Connector 28"/>
          <p:cNvCxnSpPr>
            <a:stCxn id="4" idx="2"/>
            <a:endCxn id="5" idx="0"/>
          </p:cNvCxnSpPr>
          <p:nvPr/>
        </p:nvCxnSpPr>
        <p:spPr>
          <a:xfrm flipH="1">
            <a:off x="4048125" y="2114550"/>
            <a:ext cx="1857375" cy="102870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0" name="Straight Arrow Connector 29"/>
          <p:cNvCxnSpPr>
            <a:stCxn id="4" idx="2"/>
            <a:endCxn id="6" idx="0"/>
          </p:cNvCxnSpPr>
          <p:nvPr/>
        </p:nvCxnSpPr>
        <p:spPr>
          <a:xfrm>
            <a:off x="5905500" y="2114550"/>
            <a:ext cx="1857375" cy="102870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1" name="Straight Arrow Connector 30"/>
          <p:cNvCxnSpPr>
            <a:stCxn id="5" idx="2"/>
            <a:endCxn id="7" idx="0"/>
          </p:cNvCxnSpPr>
          <p:nvPr/>
        </p:nvCxnSpPr>
        <p:spPr>
          <a:xfrm flipH="1">
            <a:off x="2952750" y="3829050"/>
            <a:ext cx="1095375" cy="91440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2" name="Straight Arrow Connector 31"/>
          <p:cNvCxnSpPr>
            <a:stCxn id="5" idx="2"/>
            <a:endCxn id="8" idx="0"/>
          </p:cNvCxnSpPr>
          <p:nvPr/>
        </p:nvCxnSpPr>
        <p:spPr>
          <a:xfrm>
            <a:off x="4048125" y="3829050"/>
            <a:ext cx="1095375" cy="91440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3" name="Straight Arrow Connector 32"/>
          <p:cNvCxnSpPr>
            <a:stCxn id="6" idx="2"/>
            <a:endCxn id="9" idx="0"/>
          </p:cNvCxnSpPr>
          <p:nvPr/>
        </p:nvCxnSpPr>
        <p:spPr>
          <a:xfrm flipH="1">
            <a:off x="7143750" y="3829050"/>
            <a:ext cx="619125" cy="91440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4" name="Straight Arrow Connector 33"/>
          <p:cNvCxnSpPr>
            <a:stCxn id="6" idx="2"/>
            <a:endCxn id="10" idx="0"/>
          </p:cNvCxnSpPr>
          <p:nvPr/>
        </p:nvCxnSpPr>
        <p:spPr>
          <a:xfrm>
            <a:off x="7762875" y="3829050"/>
            <a:ext cx="1571625" cy="91440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282EA71-097A-4820-BF30-53A7A0B93F48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3143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Standard causal forest: CATE under unconfoundedness.</a:t>
            </a:r>
          </a:p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Instrumental forest: conditional LATE with valid instruments.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451014-3202-4091-B600-95654A3DEE33}"/>
              </a:ext>
            </a:extLst>
          </p:cNvPr>
          <p:cNvSpPr>
            <a:spLocks noGrp="1"/>
          </p:cNvSpPr>
          <p:nvPr/>
        </p:nvSpPr>
        <p:spPr>
          <a:xfrm>
            <a:off x="8286750" y="156210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Honesty uses separate data to choose splits and estimate leaf effects.</a:t>
            </a:r>
          </a:p>
        </p:txBody>
      </p:sp>
    </p:spTree>
    <p:extLst>
      <p:ext uri="{BB962C8B-B14F-4D97-AF65-F5344CB8AC3E}">
        <p14:creationId xmlns:p14="http://schemas.microsoft.com/office/powerpoint/2010/main" val="1600010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-label">
            <a:extLst>
              <a:ext uri="{FF2B5EF4-FFF2-40B4-BE49-F238E27FC236}">
                <a16:creationId xmlns:a16="http://schemas.microsoft.com/office/drawing/2014/main" id="{41501014-2D5E-4E89-BE4D-7111371E8AC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Chooser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D8879DB-8EFE-418A-A478-AD00195552FF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Method selection starts with the identification problem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32DF7A0-B031-42F9-9CE6-EC095E734B0B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495300" y="1390650"/>
          <a:ext cx="11201400" cy="4095750"/>
        </p:xfrm>
        <a:graphic>
          <a:graphicData uri="http://schemas.openxmlformats.org/drawingml/2006/table">
            <a:tbl>
              <a:tblPr firstRow="1" bandRow="1"/>
              <a:tblGrid>
                <a:gridCol w="3643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3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3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t>Problem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Consider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assumption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Observed covariate imbalance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Matching, weighting, regression, DML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hidden confounding |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Endogenous treatment + credible nudge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Instrumental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Relevance, independence, exclusion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Policy starts for treated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DiD / staggered 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Parallel untreated potential-outcome trends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Treatment assigned at a cutoff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Regression discontinuity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Continuity; no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One treated aggregate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Synthetic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 pre-period counterfactual 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Effect varies by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CATE, forests, meta-learners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assumptions as base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818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-label">
            <a:extLst>
              <a:ext uri="{FF2B5EF4-FFF2-40B4-BE49-F238E27FC236}">
                <a16:creationId xmlns:a16="http://schemas.microsoft.com/office/drawing/2014/main" id="{79F866BB-DDEB-4E88-9796-7E3D520BF239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Tooling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F4BB07C-2470-48FA-B07A-23983443D66C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Practical package map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9A2BFD9-8150-403F-9AE3-013910DE62A3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09600" y="1371600"/>
          <a:ext cx="10972800" cy="4324350"/>
        </p:xfrm>
        <a:graphic>
          <a:graphicData uri="http://schemas.openxmlformats.org/drawingml/2006/table">
            <a:tbl>
              <a:tblPr firstRow="1" bandRow="1"/>
              <a:tblGrid>
                <a:gridCol w="3277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7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544"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 / other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t>Graphs and refutation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DoWhy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dagitty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t>Matching / propensity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CausalML, statsmodels, sklearn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MatchIt, cobalt, WeightIt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t>IV / 2SLS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linearmodels, statsmodels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ivreg, fixest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t>Staggered 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differences, csdid-style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did, fixest, csdid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t>RDD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rdrobust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rdrobust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t>DML / HTE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DoubleML, EconML, CausalML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DoubleML, grf, BART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t>Synthetic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SparseSC, pysyncon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Synth, synthdid, gsynth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767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-label">
            <a:extLst>
              <a:ext uri="{FF2B5EF4-FFF2-40B4-BE49-F238E27FC236}">
                <a16:creationId xmlns:a16="http://schemas.microsoft.com/office/drawing/2014/main" id="{A7A81DB9-C054-47DD-ACCD-79F9F964516E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Benchmark framing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4401B8D-CF71-4E06-A936-CA0DE48EB747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 fontScale="90917"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Causal Demand Bench: forecasting accuracy is not causal fidelity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C288B39-481D-4144-A57A-9C56A3B9AB50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B3FC2B-A2A8-4F1B-B348-2C12DBFD130B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49530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1BBE5-76D0-4A83-A0E0-512F8A116E6C}"/>
              </a:ext>
            </a:extLst>
          </p:cNvPr>
          <p:cNvSpPr>
            <a:spLocks noGrp="1"/>
          </p:cNvSpPr>
          <p:nvPr/>
        </p:nvSpPr>
        <p:spPr>
          <a:xfrm>
            <a:off x="6648450" y="1619250"/>
            <a:ext cx="49530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169A2F-2D8C-4F55-858B-AEC32E8C816E}"/>
              </a:ext>
            </a:extLst>
          </p:cNvPr>
          <p:cNvSpPr>
            <a:spLocks noGrp="1"/>
          </p:cNvSpPr>
          <p:nvPr/>
        </p:nvSpPr>
        <p:spPr>
          <a:xfrm>
            <a:off x="914400" y="20193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Forecasting accuracy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09504F-BAA4-4785-931D-44C9DA1F557F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4000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Learns historical decision rules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Predicts observed outcomes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Can perform well while failing counterfactual tests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804052-F2DA-4144-A00B-88F3ABD008CB}"/>
              </a:ext>
            </a:extLst>
          </p:cNvPr>
          <p:cNvSpPr>
            <a:spLocks noGrp="1"/>
          </p:cNvSpPr>
          <p:nvPr/>
        </p:nvSpPr>
        <p:spPr>
          <a:xfrm>
            <a:off x="6972300" y="20193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Causal fidelity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C55438-4E28-4587-A1BE-31417526DA08}"/>
              </a:ext>
            </a:extLst>
          </p:cNvPr>
          <p:cNvSpPr>
            <a:spLocks noGrp="1"/>
          </p:cNvSpPr>
          <p:nvPr/>
        </p:nvSpPr>
        <p:spPr>
          <a:xfrm>
            <a:off x="6972300" y="2800350"/>
            <a:ext cx="4000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Recovers intervention direction and magnitude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Survives confounding and overlap stress tests</a:t>
            </a:r>
          </a:p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Supports counterfactual policy 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B29A22-684E-48B8-8B99-DEB7BECFAEAD}"/>
              </a:ext>
            </a:extLst>
          </p:cNvPr>
          <p:cNvSpPr>
            <a:spLocks noGrp="1"/>
          </p:cNvSpPr>
          <p:nvPr/>
        </p:nvSpPr>
        <p:spPr>
          <a:xfrm>
            <a:off x="1181100" y="5467350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376"/>
          </a:bodyPr>
          <a:lstStyle/>
          <a:p>
            <a:pPr algn="l">
              <a:defRPr sz="20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 useful benchmark tests both what happened and what would happen under a new policy.</a:t>
            </a:r>
          </a:p>
        </p:txBody>
      </p:sp>
    </p:spTree>
    <p:extLst>
      <p:ext uri="{BB962C8B-B14F-4D97-AF65-F5344CB8AC3E}">
        <p14:creationId xmlns:p14="http://schemas.microsoft.com/office/powerpoint/2010/main" val="516244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-label">
            <a:extLst>
              <a:ext uri="{FF2B5EF4-FFF2-40B4-BE49-F238E27FC236}">
                <a16:creationId xmlns:a16="http://schemas.microsoft.com/office/drawing/2014/main" id="{43B0C2F8-DEDA-4C13-ABA3-1C2FF22324B2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Practice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3A6BFE5-0216-41F9-A8FE-8BBE7F6E800C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Common failure modes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41CC58D-8DE0-4275-874A-71BB5DC3F495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1A468-833F-45F9-8045-91413774846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953000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Treating high predictive accuracy as causal evidence</a:t>
            </a:r>
          </a:p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Using post-treatment variables as controls</a:t>
            </a:r>
          </a:p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Conditioning on colliders</a:t>
            </a:r>
          </a:p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Reporting ATE when overlap only supports a trimmed estimand</a:t>
            </a:r>
          </a:p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Claiming IV validity from first-stage strength alone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2CE5F-D5F2-4279-963E-2D1AFB7FC3D1}"/>
              </a:ext>
            </a:extLst>
          </p:cNvPr>
          <p:cNvSpPr>
            <a:spLocks noGrp="1"/>
          </p:cNvSpPr>
          <p:nvPr/>
        </p:nvSpPr>
        <p:spPr>
          <a:xfrm>
            <a:off x="6705600" y="1428750"/>
            <a:ext cx="4953000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Treating pre-trend tests as proof of parallel trends</a:t>
            </a:r>
          </a:p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Using naive TWFE in staggered adoption with heterogeneous effects</a:t>
            </a:r>
          </a:p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Interpreting DML as a cure for unobserved confounding</a:t>
            </a:r>
          </a:p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Treating HTE segments as real without uncertainty</a:t>
            </a:r>
          </a:p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Ignoring interference in networks or product portfolios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8F273B-77F1-4B07-9B58-ABD6A5ED12A9}"/>
              </a:ext>
            </a:extLst>
          </p:cNvPr>
          <p:cNvSpPr>
            <a:spLocks noGrp="1"/>
          </p:cNvSpPr>
          <p:nvPr/>
        </p:nvSpPr>
        <p:spPr>
          <a:xfrm>
            <a:off x="1333500" y="53340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Most failures are design failures before they are modeling failures.</a:t>
            </a:r>
          </a:p>
        </p:txBody>
      </p:sp>
    </p:spTree>
    <p:extLst>
      <p:ext uri="{BB962C8B-B14F-4D97-AF65-F5344CB8AC3E}">
        <p14:creationId xmlns:p14="http://schemas.microsoft.com/office/powerpoint/2010/main" val="653314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ection-label">
            <a:extLst>
              <a:ext uri="{FF2B5EF4-FFF2-40B4-BE49-F238E27FC236}">
                <a16:creationId xmlns:a16="http://schemas.microsoft.com/office/drawing/2014/main" id="{18C4BEF6-C6CC-4C53-9FCF-08ED709C5FBD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Practice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A523B96-0AA4-4FA8-9E1F-47C746F8E823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Demand estimation checklist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67E6360-B189-44D6-99D6-43026F512808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FFB79-04D1-428A-AC5A-765AE190A22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4838700" cy="7048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AFF89B-BE22-49CF-A5AD-9C0D55DD89B6}"/>
              </a:ext>
            </a:extLst>
          </p:cNvPr>
          <p:cNvSpPr>
            <a:spLocks noGrp="1"/>
          </p:cNvSpPr>
          <p:nvPr/>
        </p:nvSpPr>
        <p:spPr>
          <a:xfrm>
            <a:off x="933450" y="16002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0AC92-614E-4451-9229-E636BD5F040A}"/>
              </a:ext>
            </a:extLst>
          </p:cNvPr>
          <p:cNvSpPr>
            <a:spLocks noGrp="1"/>
          </p:cNvSpPr>
          <p:nvPr/>
        </p:nvSpPr>
        <p:spPr>
          <a:xfrm>
            <a:off x="1562100" y="1543050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was the assignment rule?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8B750-656B-42BB-91F8-57482192960B}"/>
              </a:ext>
            </a:extLst>
          </p:cNvPr>
          <p:cNvSpPr>
            <a:spLocks noGrp="1"/>
          </p:cNvSpPr>
          <p:nvPr/>
        </p:nvSpPr>
        <p:spPr>
          <a:xfrm>
            <a:off x="6419850" y="1409700"/>
            <a:ext cx="4838700" cy="7048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0A123A-DB52-488B-8E3E-275F7586C9AC}"/>
              </a:ext>
            </a:extLst>
          </p:cNvPr>
          <p:cNvSpPr>
            <a:spLocks noGrp="1"/>
          </p:cNvSpPr>
          <p:nvPr/>
        </p:nvSpPr>
        <p:spPr>
          <a:xfrm>
            <a:off x="6610350" y="16002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4198BF-4122-4609-8D8C-F2811CA2638F}"/>
              </a:ext>
            </a:extLst>
          </p:cNvPr>
          <p:cNvSpPr>
            <a:spLocks noGrp="1"/>
          </p:cNvSpPr>
          <p:nvPr/>
        </p:nvSpPr>
        <p:spPr>
          <a:xfrm>
            <a:off x="7239000" y="1543050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643"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Was treatment chosen using expected demand?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5DA6D0-BA52-41ED-AB2A-A3FF26FBAC04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4838700" cy="7048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2CBCF1-3372-4932-A152-CCF9D20FD967}"/>
              </a:ext>
            </a:extLst>
          </p:cNvPr>
          <p:cNvSpPr>
            <a:spLocks noGrp="1"/>
          </p:cNvSpPr>
          <p:nvPr/>
        </p:nvSpPr>
        <p:spPr>
          <a:xfrm>
            <a:off x="933450" y="25908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4A3C4-2204-41E8-8926-E9E48C78F9A5}"/>
              </a:ext>
            </a:extLst>
          </p:cNvPr>
          <p:cNvSpPr>
            <a:spLocks noGrp="1"/>
          </p:cNvSpPr>
          <p:nvPr/>
        </p:nvSpPr>
        <p:spPr>
          <a:xfrm>
            <a:off x="1562100" y="2533650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Is there overlap across comparable units?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49FB50-C122-4AA1-A051-92B940BAADE3}"/>
              </a:ext>
            </a:extLst>
          </p:cNvPr>
          <p:cNvSpPr>
            <a:spLocks noGrp="1"/>
          </p:cNvSpPr>
          <p:nvPr/>
        </p:nvSpPr>
        <p:spPr>
          <a:xfrm>
            <a:off x="6419850" y="2400300"/>
            <a:ext cx="4838700" cy="7048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243E52-DA6D-4952-934C-78A80502B805}"/>
              </a:ext>
            </a:extLst>
          </p:cNvPr>
          <p:cNvSpPr>
            <a:spLocks noGrp="1"/>
          </p:cNvSpPr>
          <p:nvPr/>
        </p:nvSpPr>
        <p:spPr>
          <a:xfrm>
            <a:off x="6610350" y="25908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791C46-B6A7-4F19-8A48-518C57A48CE7}"/>
              </a:ext>
            </a:extLst>
          </p:cNvPr>
          <p:cNvSpPr>
            <a:spLocks noGrp="1"/>
          </p:cNvSpPr>
          <p:nvPr/>
        </p:nvSpPr>
        <p:spPr>
          <a:xfrm>
            <a:off x="7239000" y="2533650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Are treatment changes large and frequent enough?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DB7B68-6F7F-4168-BF35-B93D03918918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4838700" cy="7048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B58EE1-7794-4D04-BE22-63AF634622E0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3A4207-B405-41CD-A0D1-469A014D2AE5}"/>
              </a:ext>
            </a:extLst>
          </p:cNvPr>
          <p:cNvSpPr>
            <a:spLocks noGrp="1"/>
          </p:cNvSpPr>
          <p:nvPr/>
        </p:nvSpPr>
        <p:spPr>
          <a:xfrm>
            <a:off x="1562100" y="3524250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466"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Are seasonality and promotions observed?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1A5BCC-DC79-4DD0-979A-328CC83B3900}"/>
              </a:ext>
            </a:extLst>
          </p:cNvPr>
          <p:cNvSpPr>
            <a:spLocks noGrp="1"/>
          </p:cNvSpPr>
          <p:nvPr/>
        </p:nvSpPr>
        <p:spPr>
          <a:xfrm>
            <a:off x="6419850" y="3390900"/>
            <a:ext cx="4838700" cy="7048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4215B0-C00B-47F0-BBA1-89A3756F23C0}"/>
              </a:ext>
            </a:extLst>
          </p:cNvPr>
          <p:cNvSpPr>
            <a:spLocks noGrp="1"/>
          </p:cNvSpPr>
          <p:nvPr/>
        </p:nvSpPr>
        <p:spPr>
          <a:xfrm>
            <a:off x="6610350" y="35814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FA4F4D-0091-4FC0-AB80-DB92E54C1383}"/>
              </a:ext>
            </a:extLst>
          </p:cNvPr>
          <p:cNvSpPr>
            <a:spLocks noGrp="1"/>
          </p:cNvSpPr>
          <p:nvPr/>
        </p:nvSpPr>
        <p:spPr>
          <a:xfrm>
            <a:off x="7239000" y="3524250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161"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Are there spillovers across products or channels?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831EEF-BCDA-4DDC-B3A3-F4DE931B199C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4838700" cy="7048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4EC019-C2B9-4735-A947-7657EEB84941}"/>
              </a:ext>
            </a:extLst>
          </p:cNvPr>
          <p:cNvSpPr>
            <a:spLocks noGrp="1"/>
          </p:cNvSpPr>
          <p:nvPr/>
        </p:nvSpPr>
        <p:spPr>
          <a:xfrm>
            <a:off x="933450" y="45720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41D5DB-1305-4DE3-81DA-16875F6E6807}"/>
              </a:ext>
            </a:extLst>
          </p:cNvPr>
          <p:cNvSpPr>
            <a:spLocks noGrp="1"/>
          </p:cNvSpPr>
          <p:nvPr/>
        </p:nvSpPr>
        <p:spPr>
          <a:xfrm>
            <a:off x="1562100" y="4514850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Is the estimand short-run, long-run, direct, or total?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C76AF5-9C16-4BCE-ABDB-51B661D6EEC4}"/>
              </a:ext>
            </a:extLst>
          </p:cNvPr>
          <p:cNvSpPr>
            <a:spLocks noGrp="1"/>
          </p:cNvSpPr>
          <p:nvPr/>
        </p:nvSpPr>
        <p:spPr>
          <a:xfrm>
            <a:off x="6419850" y="4381500"/>
            <a:ext cx="4838700" cy="7048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B2FFC4-F236-46EE-958F-E293D37FF884}"/>
              </a:ext>
            </a:extLst>
          </p:cNvPr>
          <p:cNvSpPr>
            <a:spLocks noGrp="1"/>
          </p:cNvSpPr>
          <p:nvPr/>
        </p:nvSpPr>
        <p:spPr>
          <a:xfrm>
            <a:off x="6610350" y="45720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BC9B47-0814-4C33-884C-0EC249B97E1F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we validate with an experiment or natural experiment?</a:t>
            </a:r>
          </a:p>
        </p:txBody>
      </p:sp>
    </p:spTree>
    <p:extLst>
      <p:ext uri="{BB962C8B-B14F-4D97-AF65-F5344CB8AC3E}">
        <p14:creationId xmlns:p14="http://schemas.microsoft.com/office/powerpoint/2010/main" val="1566481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-label">
            <a:extLst>
              <a:ext uri="{FF2B5EF4-FFF2-40B4-BE49-F238E27FC236}">
                <a16:creationId xmlns:a16="http://schemas.microsoft.com/office/drawing/2014/main" id="{CFEE7EC0-C7A0-4F24-A735-9B7A0B14D5FB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FC6EFEC-F693-43B0-9AB0-A6022EE64079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References and package anchors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751C94B-0D8C-4393-B402-DD08BAC9A2A6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1CEBE4-A629-45D8-B393-4E0195B6E7FB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methods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0448FC-4532-4994-B6BE-6631382DF2D8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95300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Imbens and Rubin, Causal Inference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Hernan and Robins, Causal Inference: What If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Angrist and Pischke, Mostly Harmless Econometrics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Pearl, Causality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Chernozhukov et al., Double/debiased ML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Callaway and Sant'Anna, DiD with multiple periods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Athey, Tibshirani, and Wager, GRF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04C4C1-D315-4821-9392-24F051C844BC}"/>
              </a:ext>
            </a:extLst>
          </p:cNvPr>
          <p:cNvSpPr>
            <a:spLocks noGrp="1"/>
          </p:cNvSpPr>
          <p:nvPr/>
        </p:nvSpPr>
        <p:spPr>
          <a:xfrm>
            <a:off x="6610350" y="14287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Software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9DB7F-995F-4A7B-853F-908D2802FEBD}"/>
              </a:ext>
            </a:extLst>
          </p:cNvPr>
          <p:cNvSpPr>
            <a:spLocks noGrp="1"/>
          </p:cNvSpPr>
          <p:nvPr/>
        </p:nvSpPr>
        <p:spPr>
          <a:xfrm>
            <a:off x="6610350" y="1924050"/>
            <a:ext cx="4953000" cy="310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DoWhy: pywhy.org/dowhy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EconML: pywhy.org/EconML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DoubleML: docs.doubleml.org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CausalML: causalml.readthedocs.io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linearmodels: bashtage.github.io/linearmodels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did: bcallaway11.github.io/did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grf: grf-labs.github.io/grf</a:t>
            </a: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rdrobust: rdpackages.github.io/rdrobust</a:t>
            </a:r>
          </a:p>
        </p:txBody>
      </p:sp>
    </p:spTree>
    <p:extLst>
      <p:ext uri="{BB962C8B-B14F-4D97-AF65-F5344CB8AC3E}">
        <p14:creationId xmlns:p14="http://schemas.microsoft.com/office/powerpoint/2010/main" val="192775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-label">
            <a:extLst>
              <a:ext uri="{FF2B5EF4-FFF2-40B4-BE49-F238E27FC236}">
                <a16:creationId xmlns:a16="http://schemas.microsoft.com/office/drawing/2014/main" id="{25FE252A-70F3-415E-B307-9A79708B5C3E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59055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Closing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CE960B8-870B-4501-984A-A24166A144DE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9906000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Causal inference is a disciplined intervention claim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D75184D-3DFA-4B27-BE7A-B4C949CE576F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514350" cy="22860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9B6912-7593-4F58-B8E7-158D5EF12FC4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10477500" cy="26289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A972D1-6740-4708-83E0-38DB236B9BBB}"/>
              </a:ext>
            </a:extLst>
          </p:cNvPr>
          <p:cNvSpPr>
            <a:spLocks noGrp="1"/>
          </p:cNvSpPr>
          <p:nvPr/>
        </p:nvSpPr>
        <p:spPr>
          <a:xfrm>
            <a:off x="1352550" y="2152650"/>
            <a:ext cx="9334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80"/>
          </a:bodyPr>
          <a:lstStyle/>
          <a:p>
            <a:pPr algn="ctr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Define the question. Defend the design. Estimate the effect. Quantify uncertainty. State what the result supports.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0FA03-8BDA-47DF-A50B-7DF1F127D52D}"/>
              </a:ext>
            </a:extLst>
          </p:cNvPr>
          <p:cNvSpPr>
            <a:spLocks noGrp="1"/>
          </p:cNvSpPr>
          <p:nvPr/>
        </p:nvSpPr>
        <p:spPr>
          <a:xfrm>
            <a:off x="2971800" y="5048250"/>
            <a:ext cx="628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The estimator is only one part of the argument.</a:t>
            </a:r>
          </a:p>
        </p:txBody>
      </p:sp>
    </p:spTree>
    <p:extLst>
      <p:ext uri="{BB962C8B-B14F-4D97-AF65-F5344CB8AC3E}">
        <p14:creationId xmlns:p14="http://schemas.microsoft.com/office/powerpoint/2010/main" val="867225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2055</Words>
  <Application>Microsoft Office PowerPoint</Application>
  <DocSecurity>0</DocSecurity>
  <PresentationFormat>Widescreen</PresentationFormat>
  <Paragraphs>443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Helvetica Neue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Minha Hwang</cp:lastModifiedBy>
  <cp:revision>1</cp:revision>
  <dcterms:created xsi:type="dcterms:W3CDTF">2026-08-23T20:23:12Z</dcterms:created>
  <dcterms:modified xsi:type="dcterms:W3CDTF">2026-08-25T12:41:18Z</dcterms:modified>
</cp:coreProperties>
</file>